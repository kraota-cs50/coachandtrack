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0"/>
  </p:normalViewPr>
  <p:slideViewPr>
    <p:cSldViewPr snapToGrid="0" snapToObjects="1">
      <p:cViewPr varScale="1">
        <p:scale>
          <a:sx n="142" d="100"/>
          <a:sy n="142" d="100"/>
        </p:scale>
        <p:origin x="750" y="108"/>
      </p:cViewPr>
      <p:guideLst/>
    </p:cSldViewPr>
  </p:slideViewPr>
  <p:notesTextViewPr>
    <p:cViewPr>
      <p:scale>
        <a:sx n="1" d="1"/>
        <a:sy n="1" d="1"/>
      </p:scale>
      <p:origin x="0" y="-38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Monthly Earnings ($)</c:v>
                </c:pt>
              </c:strCache>
            </c:strRef>
          </c:tx>
          <c:spPr>
            <a:solidFill>
              <a:srgbClr val="F97316"/>
            </a:solidFill>
            <a:effectLst/>
          </c:spPr>
          <c:invertIfNegative val="0"/>
          <c:dPt>
            <c:idx val="0"/>
            <c:invertIfNegative val="0"/>
            <c:bubble3D val="0"/>
            <c:extLst>
              <c:ext xmlns:c16="http://schemas.microsoft.com/office/drawing/2014/chart" uri="{C3380CC4-5D6E-409C-BE32-E72D297353CC}">
                <c16:uniqueId val="{00000001-7D90-4856-80B1-3D185274DB4A}"/>
              </c:ext>
            </c:extLst>
          </c:dPt>
          <c:dPt>
            <c:idx val="1"/>
            <c:invertIfNegative val="0"/>
            <c:bubble3D val="0"/>
            <c:extLst>
              <c:ext xmlns:c16="http://schemas.microsoft.com/office/drawing/2014/chart" uri="{C3380CC4-5D6E-409C-BE32-E72D297353CC}">
                <c16:uniqueId val="{00000003-7D90-4856-80B1-3D185274DB4A}"/>
              </c:ext>
            </c:extLst>
          </c:dPt>
          <c:dPt>
            <c:idx val="2"/>
            <c:invertIfNegative val="0"/>
            <c:bubble3D val="0"/>
            <c:spPr>
              <a:solidFill>
                <a:srgbClr val="22C55E"/>
              </a:solidFill>
              <a:effectLst/>
            </c:spPr>
            <c:extLst>
              <c:ext xmlns:c16="http://schemas.microsoft.com/office/drawing/2014/chart" uri="{C3380CC4-5D6E-409C-BE32-E72D297353CC}">
                <c16:uniqueId val="{00000005-7D90-4856-80B1-3D185274DB4A}"/>
              </c:ext>
            </c:extLst>
          </c:dPt>
          <c:dPt>
            <c:idx val="3"/>
            <c:invertIfNegative val="0"/>
            <c:bubble3D val="0"/>
            <c:spPr>
              <a:solidFill>
                <a:srgbClr val="22C55E"/>
              </a:solidFill>
              <a:effectLst/>
            </c:spPr>
            <c:extLst>
              <c:ext xmlns:c16="http://schemas.microsoft.com/office/drawing/2014/chart" uri="{C3380CC4-5D6E-409C-BE32-E72D297353CC}">
                <c16:uniqueId val="{00000007-7D90-4856-80B1-3D185274DB4A}"/>
              </c:ext>
            </c:extLst>
          </c:dPt>
          <c:dLbls>
            <c:numFmt formatCode="#,##0" sourceLinked="0"/>
            <c:spPr>
              <a:noFill/>
              <a:ln>
                <a:noFill/>
              </a:ln>
              <a:effectLst/>
            </c:spPr>
            <c:txPr>
              <a:bodyPr/>
              <a:lstStyle/>
              <a:p>
                <a:pPr>
                  <a:defRPr sz="1200" b="0" i="0" u="none" strike="noStrike">
                    <a:solidFill>
                      <a:srgbClr val="F3F4F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10 Clients</c:v>
                </c:pt>
                <c:pt idx="1">
                  <c:v>25 Clients</c:v>
                </c:pt>
                <c:pt idx="2">
                  <c:v>50 Clients</c:v>
                </c:pt>
                <c:pt idx="3">
                  <c:v>100 Clients</c:v>
                </c:pt>
              </c:strCache>
            </c:strRef>
          </c:cat>
          <c:val>
            <c:numRef>
              <c:f>Sheet1!$B$2:$B$5</c:f>
              <c:numCache>
                <c:formatCode>General</c:formatCode>
                <c:ptCount val="4"/>
                <c:pt idx="0">
                  <c:v>980</c:v>
                </c:pt>
                <c:pt idx="1">
                  <c:v>2450</c:v>
                </c:pt>
                <c:pt idx="2">
                  <c:v>4900</c:v>
                </c:pt>
                <c:pt idx="3">
                  <c:v>9800</c:v>
                </c:pt>
              </c:numCache>
            </c:numRef>
          </c:val>
          <c:extLst>
            <c:ext xmlns:c16="http://schemas.microsoft.com/office/drawing/2014/chart" uri="{C3380CC4-5D6E-409C-BE32-E72D297353CC}">
              <c16:uniqueId val="{00000008-7D90-4856-80B1-3D185274DB4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F2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21A2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127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mailto:trainers@coachandtrack.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taking the time to meet with me today. My name is Carlos, and I'm the founder of </a:t>
            </a:r>
            <a:r>
              <a:rPr lang="en-US" dirty="0" err="1"/>
              <a:t>CoachAndTrack</a:t>
            </a:r>
            <a:r>
              <a:rPr lang="en-US" dirty="0"/>
              <a:t> — a new fitness coaching marketplace at coachandtrack.com.</a:t>
            </a:r>
          </a:p>
          <a:p>
            <a:r>
              <a:rPr lang="en-US" dirty="0"/>
              <a:t>Today I want to show you something I genuinely believe can change the way you run your coaching business. This isn't a sales pitch — it's an invitation. And by the end of this, I hope you'll see why."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something I already know about you — because it's true for almost every coach I've spoken to.</a:t>
            </a:r>
          </a:p>
          <a:p>
            <a:r>
              <a:rPr lang="en-US" dirty="0"/>
              <a:t>Growing a coaching business is hard. Not because you're not good at what you do — I'm sure you're excellent. But because there are three problems that get in the way.</a:t>
            </a:r>
          </a:p>
          <a:p>
            <a:r>
              <a:rPr lang="en-US" b="1" dirty="0"/>
              <a:t>First — finding clients.</a:t>
            </a:r>
            <a:r>
              <a:rPr lang="en-US" dirty="0"/>
              <a:t> Word of mouth only goes so far. Most coaches end up spending more time on marketing than actually coaching. That's backwards.</a:t>
            </a:r>
          </a:p>
          <a:p>
            <a:r>
              <a:rPr lang="en-US" b="1" dirty="0"/>
              <a:t>Second — proving results.</a:t>
            </a:r>
            <a:r>
              <a:rPr lang="en-US" dirty="0"/>
              <a:t> Without a structured tracking system, it's hard to show clients — or potential clients — real, concrete progress data. And data is what builds trust.</a:t>
            </a:r>
          </a:p>
          <a:p>
            <a:r>
              <a:rPr lang="en-US" b="1" dirty="0"/>
              <a:t>And third — managing everything.</a:t>
            </a:r>
            <a:r>
              <a:rPr lang="en-US" dirty="0"/>
              <a:t> You're juggling WhatsApp messages, spreadsheets, Instagram DMs, and payments across multiple tools. That's hours every week that could be spent coaching.</a:t>
            </a:r>
          </a:p>
          <a:p>
            <a:r>
              <a:rPr lang="en-US" dirty="0"/>
              <a:t>Sound familiar? That's exactly why I built </a:t>
            </a:r>
            <a:r>
              <a:rPr lang="en-US" dirty="0" err="1"/>
              <a:t>CoachAndTrack</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CoachAndTrack</a:t>
            </a:r>
            <a:r>
              <a:rPr lang="en-US" dirty="0"/>
              <a:t> is one platform that handles all of it — discovery, tracking, and client management — in one place.</a:t>
            </a:r>
          </a:p>
          <a:p>
            <a:r>
              <a:rPr lang="en-US" dirty="0"/>
              <a:t>Here's what it does for you specifically:</a:t>
            </a:r>
          </a:p>
          <a:p>
            <a:r>
              <a:rPr lang="en-US" dirty="0"/>
              <a:t>Clients discover and connect with you directly through our marketplace. You get a professional profile, and people who are actively looking for a coach find you.</a:t>
            </a:r>
          </a:p>
          <a:p>
            <a:r>
              <a:rPr lang="en-US" dirty="0"/>
              <a:t>There are built-in progress tracking tools — clients log their workouts, their results, their milestones. You see it all in real time.</a:t>
            </a:r>
          </a:p>
          <a:p>
            <a:r>
              <a:rPr lang="en-US" dirty="0"/>
              <a:t>Clients can share their progress on social media — which means every transformation becomes free marketing for you.</a:t>
            </a:r>
          </a:p>
          <a:p>
            <a:r>
              <a:rPr lang="en-US" dirty="0"/>
              <a:t>You can message your clients directly through the platform. No more scattered DMs across five different apps.</a:t>
            </a:r>
          </a:p>
          <a:p>
            <a:r>
              <a:rPr lang="en-US" dirty="0"/>
              <a:t>And you manage everything — every client, every program — from one clean dashboard.</a:t>
            </a:r>
          </a:p>
          <a:p>
            <a:r>
              <a:rPr lang="en-US" dirty="0"/>
              <a:t>Now here's what I want you to notice on the right side of this slide. Joining as a founding coach is completely </a:t>
            </a:r>
            <a:r>
              <a:rPr lang="en-US" b="1" dirty="0"/>
              <a:t>free</a:t>
            </a:r>
            <a:r>
              <a:rPr lang="en-US" dirty="0"/>
              <a:t>. You keep </a:t>
            </a:r>
            <a:r>
              <a:rPr lang="en-US" b="1" dirty="0"/>
              <a:t>70%</a:t>
            </a:r>
            <a:r>
              <a:rPr lang="en-US" dirty="0"/>
              <a:t> of every subscription your clients pay. And you manage everything from </a:t>
            </a:r>
            <a:r>
              <a:rPr lang="en-US" b="1" dirty="0"/>
              <a:t>one</a:t>
            </a:r>
            <a:r>
              <a:rPr lang="en-US" dirty="0"/>
              <a:t> dashboard. That's the deal."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takes less than 30 minutes. Here's exactly how it works.</a:t>
            </a:r>
          </a:p>
          <a:p>
            <a:r>
              <a:rPr lang="en-US" b="1" dirty="0"/>
              <a:t>Step 1 — Apply as a coach.</a:t>
            </a:r>
            <a:r>
              <a:rPr lang="en-US" dirty="0"/>
              <a:t> You submit your profile — your credentials, your specialty, your bio. Our team reviews it and approves you within 48 hours.</a:t>
            </a:r>
          </a:p>
          <a:p>
            <a:r>
              <a:rPr lang="en-US" b="1" dirty="0"/>
              <a:t>Step 2 — Get discovered.</a:t>
            </a:r>
            <a:r>
              <a:rPr lang="en-US" dirty="0"/>
              <a:t> Once you're live, clients browse the marketplace by specialty, goal, and availability. You get matched with people who are serious about results — not tire-kickers.</a:t>
            </a:r>
          </a:p>
          <a:p>
            <a:r>
              <a:rPr lang="en-US" b="1" dirty="0"/>
              <a:t>Step 3 — Coach and track.</a:t>
            </a:r>
            <a:r>
              <a:rPr lang="en-US" dirty="0"/>
              <a:t> Your clients log workouts and milestones inside the platform. You see their data in real time, which makes you a better coach and makes them more accountable.</a:t>
            </a:r>
          </a:p>
          <a:p>
            <a:r>
              <a:rPr lang="en-US" b="1" dirty="0"/>
              <a:t>Step 4 — Get paid.</a:t>
            </a:r>
            <a:r>
              <a:rPr lang="en-US" dirty="0"/>
              <a:t> We use Stripe Connect for payments. 70% goes directly to you, automatically. You don't chase invoices. You don't handle billing. It just happens."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what this actually means for your income.</a:t>
            </a:r>
          </a:p>
          <a:p>
            <a:r>
              <a:rPr lang="en-US" dirty="0"/>
              <a:t>This chart is based on our Starter plan at $14 per month — and remember, there's also a Pro plan at $29 which means even higher earnings for you.</a:t>
            </a:r>
          </a:p>
          <a:p>
            <a:r>
              <a:rPr lang="en-US" dirty="0"/>
              <a:t>With just </a:t>
            </a:r>
            <a:r>
              <a:rPr lang="en-US" b="1" dirty="0"/>
              <a:t>10 clients</a:t>
            </a:r>
            <a:r>
              <a:rPr lang="en-US" dirty="0"/>
              <a:t>, you're looking at roughly </a:t>
            </a:r>
            <a:r>
              <a:rPr lang="en-US" b="1" dirty="0"/>
              <a:t>$980 a month</a:t>
            </a:r>
            <a:r>
              <a:rPr lang="en-US" dirty="0"/>
              <a:t> in recurring revenue.</a:t>
            </a:r>
          </a:p>
          <a:p>
            <a:r>
              <a:rPr lang="en-US" dirty="0"/>
              <a:t>At </a:t>
            </a:r>
            <a:r>
              <a:rPr lang="en-US" b="1" dirty="0"/>
              <a:t>25 clients</a:t>
            </a:r>
            <a:r>
              <a:rPr lang="en-US" dirty="0"/>
              <a:t> — which is very achievable — that's </a:t>
            </a:r>
            <a:r>
              <a:rPr lang="en-US" b="1" dirty="0"/>
              <a:t>$2,450 a month</a:t>
            </a:r>
            <a:r>
              <a:rPr lang="en-US" dirty="0"/>
              <a:t>.</a:t>
            </a:r>
          </a:p>
          <a:p>
            <a:r>
              <a:rPr lang="en-US" b="1" dirty="0"/>
              <a:t>50 clients</a:t>
            </a:r>
            <a:r>
              <a:rPr lang="en-US" dirty="0"/>
              <a:t> gets you to </a:t>
            </a:r>
            <a:r>
              <a:rPr lang="en-US" b="1" dirty="0"/>
              <a:t>$4,900</a:t>
            </a:r>
            <a:r>
              <a:rPr lang="en-US" dirty="0"/>
              <a:t>.</a:t>
            </a:r>
          </a:p>
          <a:p>
            <a:r>
              <a:rPr lang="en-US" dirty="0"/>
              <a:t>And at </a:t>
            </a:r>
            <a:r>
              <a:rPr lang="en-US" b="1" dirty="0"/>
              <a:t>100 clients</a:t>
            </a:r>
            <a:r>
              <a:rPr lang="en-US" dirty="0"/>
              <a:t>, you're earning </a:t>
            </a:r>
            <a:r>
              <a:rPr lang="en-US" b="1" dirty="0"/>
              <a:t>$9,800 a month</a:t>
            </a:r>
            <a:r>
              <a:rPr lang="en-US" dirty="0"/>
              <a:t>.</a:t>
            </a:r>
          </a:p>
          <a:p>
            <a:r>
              <a:rPr lang="en-US" dirty="0"/>
              <a:t>This is monthly recurring revenue — predictable, automatic, every single month. Not one-off sessions. Not chasing payments. Stripe handles it all and deposits directly to your account.</a:t>
            </a:r>
          </a:p>
          <a:p>
            <a:r>
              <a:rPr lang="en-US" dirty="0"/>
              <a:t>And founding coaches get priority placement in search results — which means you start at the top of the marketplace from day one."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joining now — as a founding coach — is a completely different opportunity than joining six months from now.</a:t>
            </a:r>
          </a:p>
          <a:p>
            <a:r>
              <a:rPr lang="en-US" b="1" dirty="0"/>
              <a:t>Priority placement</a:t>
            </a:r>
            <a:r>
              <a:rPr lang="en-US" dirty="0"/>
              <a:t> — founding coaches rank first in client search results. Permanently. That advantage compounds over time as the platform grows.</a:t>
            </a:r>
          </a:p>
          <a:p>
            <a:r>
              <a:rPr lang="en-US" b="1" dirty="0"/>
              <a:t>A founding badge</a:t>
            </a:r>
            <a:r>
              <a:rPr lang="en-US" dirty="0"/>
              <a:t> — your profile will carry a permanent 'Founding Coach' badge. That builds instant credibility with every client who finds you.</a:t>
            </a:r>
          </a:p>
          <a:p>
            <a:r>
              <a:rPr lang="en-US" b="1" dirty="0"/>
              <a:t>You shape the platform</a:t>
            </a:r>
            <a:r>
              <a:rPr lang="en-US" dirty="0"/>
              <a:t> — I'm not a corporation. I'm a solo founder building this for coaches like you. Your feedback directly influences the features, the pricing, the roadmap. What you need gets built.</a:t>
            </a:r>
          </a:p>
          <a:p>
            <a:r>
              <a:rPr lang="en-US" b="1" dirty="0"/>
              <a:t>Zero competition right now</a:t>
            </a:r>
            <a:r>
              <a:rPr lang="en-US" dirty="0"/>
              <a:t> — you'll be one of the first coaches on the platform. The marketplace isn't full. This is your chance to establish yourself before it is.</a:t>
            </a:r>
          </a:p>
          <a:p>
            <a:r>
              <a:rPr lang="en-US" b="1" dirty="0"/>
              <a:t>Launch day spotlight</a:t>
            </a:r>
            <a:r>
              <a:rPr lang="en-US" dirty="0"/>
              <a:t> — when we launch, founding coaches are featured across our entire campaign — Instagram, TikTok, LinkedIn, and YouTube. That's free visibility for your profile.</a:t>
            </a:r>
          </a:p>
          <a:p>
            <a:r>
              <a:rPr lang="en-US" b="1" dirty="0"/>
              <a:t>And dedicated support</a:t>
            </a:r>
            <a:r>
              <a:rPr lang="en-US" dirty="0"/>
              <a:t> — direct line to me, the founder. Not a ticket system. Not a chatbot. Real, personal support whenever you need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wrap up, let me be clear about who this is for.</a:t>
            </a:r>
          </a:p>
          <a:p>
            <a:r>
              <a:rPr lang="en-US" dirty="0"/>
              <a:t>If you're a certified personal trainer or fitness coach, want to grow your online client base, are comfortable communicating digitally, deliver measurable results, and are committed to your clients' progress — this is built for you. And it doesn't matter if your specialty is strength, yoga, HIIT, nutrition, or anything else.</a:t>
            </a:r>
          </a:p>
          <a:p>
            <a:r>
              <a:rPr lang="en-US" dirty="0"/>
              <a:t>And here's what you do NOT need. You don't need a large social media following. You don't need your own website or app. You don't need any tech skills or coding knowledge. You don't need an existing payment setup. You don't need years of online coaching experience. And you don't need to invest a single dollar to get started.</a:t>
            </a:r>
          </a:p>
          <a:p>
            <a:r>
              <a:rPr lang="en-US" dirty="0"/>
              <a:t>The only thing you need is a commitment to your clients and a desire to grow."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are you ready to grow your coaching business?</a:t>
            </a:r>
          </a:p>
          <a:p>
            <a:r>
              <a:rPr lang="en-US" dirty="0"/>
              <a:t>Founding coach spots are limited. I'm only onboarding a small number of coaches before launch, because I want to give each of you the attention and support you deserve.</a:t>
            </a:r>
          </a:p>
          <a:p>
            <a:r>
              <a:rPr lang="en-US" dirty="0"/>
              <a:t>It's free to apply. It takes 30 minutes to get started. And the upside — in income, in visibility, in freedom — is real.</a:t>
            </a:r>
          </a:p>
          <a:p>
            <a:r>
              <a:rPr lang="en-US" dirty="0"/>
              <a:t>Go to </a:t>
            </a:r>
            <a:r>
              <a:rPr lang="en-US" b="1" dirty="0"/>
              <a:t>coachandtrack.com</a:t>
            </a:r>
            <a:r>
              <a:rPr lang="en-US" dirty="0"/>
              <a:t> to apply. Or if you have any questions at all, you can email me directly at </a:t>
            </a:r>
            <a:r>
              <a:rPr lang="en-US" b="1" dirty="0">
                <a:hlinkClick r:id="rId3"/>
              </a:rPr>
              <a:t>trainers@coachandtrack.com</a:t>
            </a:r>
            <a:r>
              <a:rPr lang="en-US" dirty="0"/>
              <a:t>.</a:t>
            </a:r>
          </a:p>
          <a:p>
            <a:r>
              <a:rPr lang="en-US" dirty="0"/>
              <a:t>I'd love to have you on the platform. </a:t>
            </a:r>
            <a:r>
              <a:rPr lang="en-US"/>
              <a:t>Thank you."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p:spPr>
      </p:sp>
      <p:sp>
        <p:nvSpPr>
          <p:cNvPr id="3" name="Shape 1"/>
          <p:cNvSpPr/>
          <p:nvPr/>
        </p:nvSpPr>
        <p:spPr>
          <a:xfrm>
            <a:off x="914400" y="0"/>
            <a:ext cx="0" cy="5143500"/>
          </a:xfrm>
          <a:prstGeom prst="line">
            <a:avLst/>
          </a:prstGeom>
          <a:noFill/>
          <a:ln w="12700">
            <a:solidFill>
              <a:srgbClr val="161E2E"/>
            </a:solidFill>
            <a:prstDash val="solid"/>
          </a:ln>
        </p:spPr>
      </p:sp>
      <p:sp>
        <p:nvSpPr>
          <p:cNvPr id="4" name="Shape 2"/>
          <p:cNvSpPr/>
          <p:nvPr/>
        </p:nvSpPr>
        <p:spPr>
          <a:xfrm>
            <a:off x="1828800" y="0"/>
            <a:ext cx="0" cy="5143500"/>
          </a:xfrm>
          <a:prstGeom prst="line">
            <a:avLst/>
          </a:prstGeom>
          <a:noFill/>
          <a:ln w="12700">
            <a:solidFill>
              <a:srgbClr val="161E2E"/>
            </a:solidFill>
            <a:prstDash val="solid"/>
          </a:ln>
        </p:spPr>
      </p:sp>
      <p:sp>
        <p:nvSpPr>
          <p:cNvPr id="5" name="Shape 3"/>
          <p:cNvSpPr/>
          <p:nvPr/>
        </p:nvSpPr>
        <p:spPr>
          <a:xfrm>
            <a:off x="2743200" y="0"/>
            <a:ext cx="0" cy="5143500"/>
          </a:xfrm>
          <a:prstGeom prst="line">
            <a:avLst/>
          </a:prstGeom>
          <a:noFill/>
          <a:ln w="12700">
            <a:solidFill>
              <a:srgbClr val="161E2E"/>
            </a:solidFill>
            <a:prstDash val="solid"/>
          </a:ln>
        </p:spPr>
      </p:sp>
      <p:sp>
        <p:nvSpPr>
          <p:cNvPr id="6" name="Shape 4"/>
          <p:cNvSpPr/>
          <p:nvPr/>
        </p:nvSpPr>
        <p:spPr>
          <a:xfrm>
            <a:off x="3657600" y="0"/>
            <a:ext cx="0" cy="5143500"/>
          </a:xfrm>
          <a:prstGeom prst="line">
            <a:avLst/>
          </a:prstGeom>
          <a:noFill/>
          <a:ln w="12700">
            <a:solidFill>
              <a:srgbClr val="161E2E"/>
            </a:solidFill>
            <a:prstDash val="solid"/>
          </a:ln>
        </p:spPr>
      </p:sp>
      <p:sp>
        <p:nvSpPr>
          <p:cNvPr id="7" name="Shape 5"/>
          <p:cNvSpPr/>
          <p:nvPr/>
        </p:nvSpPr>
        <p:spPr>
          <a:xfrm>
            <a:off x="4572000" y="0"/>
            <a:ext cx="0" cy="5143500"/>
          </a:xfrm>
          <a:prstGeom prst="line">
            <a:avLst/>
          </a:prstGeom>
          <a:noFill/>
          <a:ln w="12700">
            <a:solidFill>
              <a:srgbClr val="161E2E"/>
            </a:solidFill>
            <a:prstDash val="solid"/>
          </a:ln>
        </p:spPr>
      </p:sp>
      <p:sp>
        <p:nvSpPr>
          <p:cNvPr id="8" name="Shape 6"/>
          <p:cNvSpPr/>
          <p:nvPr/>
        </p:nvSpPr>
        <p:spPr>
          <a:xfrm>
            <a:off x="5486400" y="0"/>
            <a:ext cx="0" cy="5143500"/>
          </a:xfrm>
          <a:prstGeom prst="line">
            <a:avLst/>
          </a:prstGeom>
          <a:noFill/>
          <a:ln w="12700">
            <a:solidFill>
              <a:srgbClr val="161E2E"/>
            </a:solidFill>
            <a:prstDash val="solid"/>
          </a:ln>
        </p:spPr>
      </p:sp>
      <p:sp>
        <p:nvSpPr>
          <p:cNvPr id="9" name="Shape 7"/>
          <p:cNvSpPr/>
          <p:nvPr/>
        </p:nvSpPr>
        <p:spPr>
          <a:xfrm>
            <a:off x="6400800" y="0"/>
            <a:ext cx="0" cy="5143500"/>
          </a:xfrm>
          <a:prstGeom prst="line">
            <a:avLst/>
          </a:prstGeom>
          <a:noFill/>
          <a:ln w="12700">
            <a:solidFill>
              <a:srgbClr val="161E2E"/>
            </a:solidFill>
            <a:prstDash val="solid"/>
          </a:ln>
        </p:spPr>
      </p:sp>
      <p:sp>
        <p:nvSpPr>
          <p:cNvPr id="10" name="Shape 8"/>
          <p:cNvSpPr/>
          <p:nvPr/>
        </p:nvSpPr>
        <p:spPr>
          <a:xfrm>
            <a:off x="7315200" y="0"/>
            <a:ext cx="0" cy="5143500"/>
          </a:xfrm>
          <a:prstGeom prst="line">
            <a:avLst/>
          </a:prstGeom>
          <a:noFill/>
          <a:ln w="12700">
            <a:solidFill>
              <a:srgbClr val="161E2E"/>
            </a:solidFill>
            <a:prstDash val="solid"/>
          </a:ln>
        </p:spPr>
      </p:sp>
      <p:sp>
        <p:nvSpPr>
          <p:cNvPr id="11" name="Shape 9"/>
          <p:cNvSpPr/>
          <p:nvPr/>
        </p:nvSpPr>
        <p:spPr>
          <a:xfrm>
            <a:off x="8229600" y="0"/>
            <a:ext cx="0" cy="5143500"/>
          </a:xfrm>
          <a:prstGeom prst="line">
            <a:avLst/>
          </a:prstGeom>
          <a:noFill/>
          <a:ln w="12700">
            <a:solidFill>
              <a:srgbClr val="161E2E"/>
            </a:solidFill>
            <a:prstDash val="solid"/>
          </a:ln>
        </p:spPr>
      </p:sp>
      <p:sp>
        <p:nvSpPr>
          <p:cNvPr id="12" name="Shape 10"/>
          <p:cNvSpPr/>
          <p:nvPr/>
        </p:nvSpPr>
        <p:spPr>
          <a:xfrm>
            <a:off x="0" y="914400"/>
            <a:ext cx="9144000" cy="0"/>
          </a:xfrm>
          <a:prstGeom prst="line">
            <a:avLst/>
          </a:prstGeom>
          <a:noFill/>
          <a:ln w="12700">
            <a:solidFill>
              <a:srgbClr val="161E2E"/>
            </a:solidFill>
            <a:prstDash val="solid"/>
          </a:ln>
        </p:spPr>
      </p:sp>
      <p:sp>
        <p:nvSpPr>
          <p:cNvPr id="13" name="Shape 11"/>
          <p:cNvSpPr/>
          <p:nvPr/>
        </p:nvSpPr>
        <p:spPr>
          <a:xfrm>
            <a:off x="0" y="1828800"/>
            <a:ext cx="9144000" cy="0"/>
          </a:xfrm>
          <a:prstGeom prst="line">
            <a:avLst/>
          </a:prstGeom>
          <a:noFill/>
          <a:ln w="12700">
            <a:solidFill>
              <a:srgbClr val="161E2E"/>
            </a:solidFill>
            <a:prstDash val="solid"/>
          </a:ln>
        </p:spPr>
      </p:sp>
      <p:sp>
        <p:nvSpPr>
          <p:cNvPr id="14" name="Shape 12"/>
          <p:cNvSpPr/>
          <p:nvPr/>
        </p:nvSpPr>
        <p:spPr>
          <a:xfrm>
            <a:off x="0" y="2743200"/>
            <a:ext cx="9144000" cy="0"/>
          </a:xfrm>
          <a:prstGeom prst="line">
            <a:avLst/>
          </a:prstGeom>
          <a:noFill/>
          <a:ln w="12700">
            <a:solidFill>
              <a:srgbClr val="161E2E"/>
            </a:solidFill>
            <a:prstDash val="solid"/>
          </a:ln>
        </p:spPr>
      </p:sp>
      <p:sp>
        <p:nvSpPr>
          <p:cNvPr id="15" name="Shape 13"/>
          <p:cNvSpPr/>
          <p:nvPr/>
        </p:nvSpPr>
        <p:spPr>
          <a:xfrm>
            <a:off x="0" y="3657600"/>
            <a:ext cx="9144000" cy="0"/>
          </a:xfrm>
          <a:prstGeom prst="line">
            <a:avLst/>
          </a:prstGeom>
          <a:noFill/>
          <a:ln w="12700">
            <a:solidFill>
              <a:srgbClr val="161E2E"/>
            </a:solidFill>
            <a:prstDash val="solid"/>
          </a:ln>
        </p:spPr>
      </p:sp>
      <p:sp>
        <p:nvSpPr>
          <p:cNvPr id="16" name="Shape 14"/>
          <p:cNvSpPr/>
          <p:nvPr/>
        </p:nvSpPr>
        <p:spPr>
          <a:xfrm>
            <a:off x="0" y="4572000"/>
            <a:ext cx="9144000" cy="0"/>
          </a:xfrm>
          <a:prstGeom prst="line">
            <a:avLst/>
          </a:prstGeom>
          <a:noFill/>
          <a:ln w="12700">
            <a:solidFill>
              <a:srgbClr val="161E2E"/>
            </a:solidFill>
            <a:prstDash val="solid"/>
          </a:ln>
        </p:spPr>
      </p:sp>
      <p:sp>
        <p:nvSpPr>
          <p:cNvPr id="22" name="Text 20"/>
          <p:cNvSpPr/>
          <p:nvPr/>
        </p:nvSpPr>
        <p:spPr>
          <a:xfrm>
            <a:off x="457200" y="1371600"/>
            <a:ext cx="1280160" cy="1280160"/>
          </a:xfrm>
          <a:prstGeom prst="rect">
            <a:avLst/>
          </a:prstGeom>
          <a:noFill/>
          <a:ln/>
        </p:spPr>
        <p:txBody>
          <a:bodyPr wrap="square" rtlCol="0" anchor="ctr"/>
          <a:lstStyle/>
          <a:p>
            <a:pPr marL="0" indent="0" algn="ctr">
              <a:buNone/>
            </a:pPr>
            <a:r>
              <a:rPr lang="en-US" sz="3600" b="1" dirty="0">
                <a:solidFill>
                  <a:srgbClr val="F97316"/>
                </a:solidFill>
                <a:latin typeface="Arial Black" pitchFamily="34" charset="0"/>
                <a:ea typeface="Arial Black" pitchFamily="34" charset="-122"/>
                <a:cs typeface="Arial Black" pitchFamily="34" charset="-120"/>
              </a:rPr>
              <a:t>C</a:t>
            </a:r>
            <a:r>
              <a:rPr lang="en-US" sz="3600" b="1" dirty="0">
                <a:solidFill>
                  <a:srgbClr val="F3F4F6"/>
                </a:solidFill>
                <a:latin typeface="Arial Black" pitchFamily="34" charset="0"/>
                <a:ea typeface="Arial Black" pitchFamily="34" charset="-122"/>
                <a:cs typeface="Arial Black" pitchFamily="34" charset="-120"/>
              </a:rPr>
              <a:t>T</a:t>
            </a:r>
            <a:endParaRPr lang="en-US" sz="3600" dirty="0"/>
          </a:p>
        </p:txBody>
      </p:sp>
      <p:sp>
        <p:nvSpPr>
          <p:cNvPr id="23" name="Text 21"/>
          <p:cNvSpPr/>
          <p:nvPr/>
        </p:nvSpPr>
        <p:spPr>
          <a:xfrm>
            <a:off x="2103120" y="914400"/>
            <a:ext cx="6583680" cy="1645920"/>
          </a:xfrm>
          <a:prstGeom prst="rect">
            <a:avLst/>
          </a:prstGeom>
          <a:noFill/>
          <a:ln/>
        </p:spPr>
        <p:txBody>
          <a:bodyPr wrap="square" rtlCol="0" anchor="ctr"/>
          <a:lstStyle/>
          <a:p>
            <a:pPr marL="0" indent="0">
              <a:lnSpc>
                <a:spcPct val="110000"/>
              </a:lnSpc>
              <a:buNone/>
            </a:pPr>
            <a:r>
              <a:rPr lang="en-US" sz="4000" b="1" dirty="0">
                <a:solidFill>
                  <a:srgbClr val="F3F4F6"/>
                </a:solidFill>
                <a:latin typeface="Arial Black" pitchFamily="34" charset="0"/>
                <a:ea typeface="Arial Black" pitchFamily="34" charset="-122"/>
                <a:cs typeface="Arial Black" pitchFamily="34" charset="-120"/>
              </a:rPr>
              <a:t>Join the Platform</a:t>
            </a:r>
            <a:endParaRPr lang="en-US" sz="4000" dirty="0"/>
          </a:p>
          <a:p>
            <a:pPr marL="0" indent="0">
              <a:lnSpc>
                <a:spcPct val="110000"/>
              </a:lnSpc>
              <a:buNone/>
            </a:pPr>
            <a:r>
              <a:rPr lang="en-US" sz="4000" b="1" dirty="0">
                <a:solidFill>
                  <a:srgbClr val="F3F4F6"/>
                </a:solidFill>
                <a:latin typeface="Arial Black" pitchFamily="34" charset="0"/>
                <a:ea typeface="Arial Black" pitchFamily="34" charset="-122"/>
                <a:cs typeface="Arial Black" pitchFamily="34" charset="-120"/>
              </a:rPr>
              <a:t>Built for Coaches.</a:t>
            </a:r>
            <a:endParaRPr lang="en-US" sz="4000" dirty="0"/>
          </a:p>
        </p:txBody>
      </p:sp>
      <p:sp>
        <p:nvSpPr>
          <p:cNvPr id="24" name="Text 22"/>
          <p:cNvSpPr/>
          <p:nvPr/>
        </p:nvSpPr>
        <p:spPr>
          <a:xfrm>
            <a:off x="2103120" y="2606040"/>
            <a:ext cx="6583680" cy="411480"/>
          </a:xfrm>
          <a:prstGeom prst="rect">
            <a:avLst/>
          </a:prstGeom>
          <a:noFill/>
          <a:ln/>
        </p:spPr>
        <p:txBody>
          <a:bodyPr wrap="square" rtlCol="0" anchor="ctr"/>
          <a:lstStyle/>
          <a:p>
            <a:pPr marL="0" indent="0">
              <a:buNone/>
            </a:pPr>
            <a:r>
              <a:rPr lang="en-US" sz="1400" i="1" dirty="0">
                <a:solidFill>
                  <a:srgbClr val="F97316"/>
                </a:solidFill>
                <a:latin typeface="Arial" pitchFamily="34" charset="0"/>
                <a:ea typeface="Arial" pitchFamily="34" charset="-122"/>
                <a:cs typeface="Arial" pitchFamily="34" charset="-120"/>
              </a:rPr>
              <a:t>Find Your Coach. Track Your Progress. Transform Your Life.</a:t>
            </a:r>
            <a:endParaRPr lang="en-US" sz="1400" dirty="0"/>
          </a:p>
        </p:txBody>
      </p:sp>
      <p:sp>
        <p:nvSpPr>
          <p:cNvPr id="25" name="Shape 23"/>
          <p:cNvSpPr/>
          <p:nvPr/>
        </p:nvSpPr>
        <p:spPr>
          <a:xfrm>
            <a:off x="2103120" y="3108960"/>
            <a:ext cx="4572000" cy="0"/>
          </a:xfrm>
          <a:prstGeom prst="line">
            <a:avLst/>
          </a:prstGeom>
          <a:noFill/>
          <a:ln w="12700">
            <a:solidFill>
              <a:srgbClr val="1F2A3A"/>
            </a:solidFill>
            <a:prstDash val="solid"/>
          </a:ln>
        </p:spPr>
      </p:sp>
      <p:sp>
        <p:nvSpPr>
          <p:cNvPr id="26" name="Text 24"/>
          <p:cNvSpPr/>
          <p:nvPr/>
        </p:nvSpPr>
        <p:spPr>
          <a:xfrm>
            <a:off x="2103120" y="3200400"/>
            <a:ext cx="6400800" cy="365760"/>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A pitch for fitness coaches ready to grow their client base.</a:t>
            </a:r>
            <a:endParaRPr lang="en-US" sz="1300" dirty="0"/>
          </a:p>
        </p:txBody>
      </p:sp>
      <p:sp>
        <p:nvSpPr>
          <p:cNvPr id="27" name="Shape 25"/>
          <p:cNvSpPr/>
          <p:nvPr/>
        </p:nvSpPr>
        <p:spPr>
          <a:xfrm>
            <a:off x="2103120" y="3749040"/>
            <a:ext cx="2194560" cy="347472"/>
          </a:xfrm>
          <a:prstGeom prst="rect">
            <a:avLst/>
          </a:prstGeom>
          <a:solidFill>
            <a:srgbClr val="1A2235"/>
          </a:solidFill>
          <a:ln w="12700">
            <a:solidFill>
              <a:srgbClr val="1F2A3A"/>
            </a:solidFill>
            <a:prstDash val="solid"/>
          </a:ln>
        </p:spPr>
      </p:sp>
      <p:sp>
        <p:nvSpPr>
          <p:cNvPr id="28" name="Text 26"/>
          <p:cNvSpPr/>
          <p:nvPr/>
        </p:nvSpPr>
        <p:spPr>
          <a:xfrm>
            <a:off x="2103120" y="3749040"/>
            <a:ext cx="2194560" cy="347472"/>
          </a:xfrm>
          <a:prstGeom prst="rect">
            <a:avLst/>
          </a:prstGeom>
          <a:noFill/>
          <a:ln/>
        </p:spPr>
        <p:txBody>
          <a:bodyPr wrap="square" rtlCol="0" anchor="ctr"/>
          <a:lstStyle/>
          <a:p>
            <a:pPr marL="0" indent="0" algn="ctr">
              <a:buNone/>
            </a:pPr>
            <a:r>
              <a:rPr lang="en-US" sz="1100" dirty="0">
                <a:solidFill>
                  <a:srgbClr val="9CA3AF"/>
                </a:solidFill>
                <a:latin typeface="Courier New" pitchFamily="34" charset="0"/>
                <a:ea typeface="Courier New" pitchFamily="34" charset="-122"/>
                <a:cs typeface="Courier New" pitchFamily="34" charset="-120"/>
              </a:rPr>
              <a:t>coachandtrack.com</a:t>
            </a:r>
            <a:endParaRPr lang="en-US" sz="1100" dirty="0"/>
          </a:p>
        </p:txBody>
      </p:sp>
      <p:sp>
        <p:nvSpPr>
          <p:cNvPr id="29" name="Shape 27"/>
          <p:cNvSpPr/>
          <p:nvPr/>
        </p:nvSpPr>
        <p:spPr>
          <a:xfrm>
            <a:off x="0" y="5079492"/>
            <a:ext cx="9144000" cy="64008"/>
          </a:xfrm>
          <a:prstGeom prst="rect">
            <a:avLst/>
          </a:prstGeom>
          <a:solidFill>
            <a:srgbClr val="F9731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Shape 1"/>
          <p:cNvSpPr/>
          <p:nvPr/>
        </p:nvSpPr>
        <p:spPr>
          <a:xfrm>
            <a:off x="457200" y="347472"/>
            <a:ext cx="2011680" cy="256032"/>
          </a:xfrm>
          <a:prstGeom prst="rect">
            <a:avLst/>
          </a:prstGeom>
          <a:solidFill>
            <a:srgbClr val="F97316"/>
          </a:solidFill>
          <a:ln/>
        </p:spPr>
      </p:sp>
      <p:sp>
        <p:nvSpPr>
          <p:cNvPr id="4" name="Text 2"/>
          <p:cNvSpPr/>
          <p:nvPr/>
        </p:nvSpPr>
        <p:spPr>
          <a:xfrm>
            <a:off x="457200" y="347472"/>
            <a:ext cx="2011680" cy="256032"/>
          </a:xfrm>
          <a:prstGeom prst="rect">
            <a:avLst/>
          </a:prstGeom>
          <a:noFill/>
          <a:ln/>
        </p:spPr>
        <p:txBody>
          <a:bodyPr wrap="square" lIns="0" tIns="0" rIns="0" bIns="0" rtlCol="0" anchor="ctr"/>
          <a:lstStyle/>
          <a:p>
            <a:pPr marL="0" indent="0" algn="ctr">
              <a:buNone/>
            </a:pPr>
            <a:r>
              <a:rPr lang="en-US" sz="900" b="1" dirty="0">
                <a:solidFill>
                  <a:srgbClr val="FFFFFF"/>
                </a:solidFill>
              </a:rPr>
              <a:t>THE PROBLEM</a:t>
            </a:r>
            <a:endParaRPr lang="en-US" sz="900" dirty="0"/>
          </a:p>
        </p:txBody>
      </p:sp>
      <p:sp>
        <p:nvSpPr>
          <p:cNvPr id="5" name="Text 3"/>
          <p:cNvSpPr/>
          <p:nvPr/>
        </p:nvSpPr>
        <p:spPr>
          <a:xfrm>
            <a:off x="457200" y="658368"/>
            <a:ext cx="8229600" cy="566928"/>
          </a:xfrm>
          <a:prstGeom prst="rect">
            <a:avLst/>
          </a:prstGeom>
          <a:noFill/>
          <a:ln/>
        </p:spPr>
        <p:txBody>
          <a:bodyPr wrap="square" rtlCol="0" anchor="ctr">
            <a:spAutoFit/>
          </a:bodyPr>
          <a:lstStyle/>
          <a:p>
            <a:pPr marL="0" indent="0">
              <a:buNone/>
            </a:pPr>
            <a:r>
              <a:rPr lang="en-US" sz="2800" b="1" dirty="0">
                <a:solidFill>
                  <a:srgbClr val="F3F4F6"/>
                </a:solidFill>
                <a:latin typeface="Arial Black" pitchFamily="34" charset="0"/>
                <a:ea typeface="Arial Black" pitchFamily="34" charset="-122"/>
                <a:cs typeface="Arial Black" pitchFamily="34" charset="-120"/>
              </a:rPr>
              <a:t>Growing a Coaching Business is Hard.</a:t>
            </a:r>
            <a:endParaRPr lang="en-US" sz="2800" dirty="0"/>
          </a:p>
        </p:txBody>
      </p:sp>
      <p:sp>
        <p:nvSpPr>
          <p:cNvPr id="6" name="Text 4"/>
          <p:cNvSpPr/>
          <p:nvPr/>
        </p:nvSpPr>
        <p:spPr>
          <a:xfrm>
            <a:off x="457200" y="1243584"/>
            <a:ext cx="8229600" cy="329184"/>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Most coaches face the same three challenges — and none of them have to stop you.</a:t>
            </a:r>
            <a:endParaRPr lang="en-US" sz="13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2</a:t>
            </a:r>
            <a:endParaRPr lang="en-US" sz="900" dirty="0"/>
          </a:p>
        </p:txBody>
      </p:sp>
      <p:sp>
        <p:nvSpPr>
          <p:cNvPr id="8" name="Shape 6"/>
          <p:cNvSpPr/>
          <p:nvPr/>
        </p:nvSpPr>
        <p:spPr>
          <a:xfrm>
            <a:off x="457200" y="1737360"/>
            <a:ext cx="2651760" cy="265176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9" name="Shape 7"/>
          <p:cNvSpPr/>
          <p:nvPr/>
        </p:nvSpPr>
        <p:spPr>
          <a:xfrm>
            <a:off x="457200" y="1737360"/>
            <a:ext cx="54864" cy="2651760"/>
          </a:xfrm>
          <a:prstGeom prst="rect">
            <a:avLst/>
          </a:prstGeom>
          <a:solidFill>
            <a:srgbClr val="F97316"/>
          </a:solidFill>
          <a:ln/>
        </p:spPr>
      </p:sp>
      <p:pic>
        <p:nvPicPr>
          <p:cNvPr id="10" name="Image 0" descr="preencoded.png"/>
          <p:cNvPicPr>
            <a:picLocks noChangeAspect="1"/>
          </p:cNvPicPr>
          <p:nvPr/>
        </p:nvPicPr>
        <p:blipFill>
          <a:blip r:embed="rId3"/>
          <a:stretch>
            <a:fillRect/>
          </a:stretch>
        </p:blipFill>
        <p:spPr>
          <a:xfrm>
            <a:off x="685800" y="1874520"/>
            <a:ext cx="411480" cy="411480"/>
          </a:xfrm>
          <a:prstGeom prst="rect">
            <a:avLst/>
          </a:prstGeom>
        </p:spPr>
      </p:pic>
      <p:sp>
        <p:nvSpPr>
          <p:cNvPr id="11" name="Text 8"/>
          <p:cNvSpPr/>
          <p:nvPr/>
        </p:nvSpPr>
        <p:spPr>
          <a:xfrm>
            <a:off x="566928" y="2377440"/>
            <a:ext cx="2468880" cy="347472"/>
          </a:xfrm>
          <a:prstGeom prst="rect">
            <a:avLst/>
          </a:prstGeom>
          <a:noFill/>
          <a:ln/>
        </p:spPr>
        <p:txBody>
          <a:bodyPr wrap="square" rtlCol="0" anchor="ctr"/>
          <a:lstStyle/>
          <a:p>
            <a:pPr marL="0" indent="0">
              <a:buNone/>
            </a:pPr>
            <a:r>
              <a:rPr lang="en-US" sz="1500" b="1" dirty="0">
                <a:solidFill>
                  <a:srgbClr val="F3F4F6"/>
                </a:solidFill>
                <a:latin typeface="Arial Black" pitchFamily="34" charset="0"/>
                <a:ea typeface="Arial Black" pitchFamily="34" charset="-122"/>
                <a:cs typeface="Arial Black" pitchFamily="34" charset="-120"/>
              </a:rPr>
              <a:t>Finding Clients</a:t>
            </a:r>
            <a:endParaRPr lang="en-US" sz="1500" dirty="0"/>
          </a:p>
        </p:txBody>
      </p:sp>
      <p:sp>
        <p:nvSpPr>
          <p:cNvPr id="12" name="Text 9"/>
          <p:cNvSpPr/>
          <p:nvPr/>
        </p:nvSpPr>
        <p:spPr>
          <a:xfrm>
            <a:off x="566928" y="2743200"/>
            <a:ext cx="2468880" cy="1463040"/>
          </a:xfrm>
          <a:prstGeom prst="rect">
            <a:avLst/>
          </a:prstGeom>
          <a:noFill/>
          <a:ln/>
        </p:spPr>
        <p:txBody>
          <a:bodyPr wrap="square" rtlCol="0" anchor="ctr"/>
          <a:lstStyle/>
          <a:p>
            <a:pPr marL="0" indent="0">
              <a:lnSpc>
                <a:spcPct val="130000"/>
              </a:lnSpc>
              <a:buNone/>
            </a:pPr>
            <a:r>
              <a:rPr lang="en-US" sz="1200" dirty="0">
                <a:solidFill>
                  <a:srgbClr val="9CA3AF"/>
                </a:solidFill>
                <a:latin typeface="Arial" pitchFamily="34" charset="0"/>
                <a:ea typeface="Arial" pitchFamily="34" charset="-122"/>
                <a:cs typeface="Arial" pitchFamily="34" charset="-120"/>
              </a:rPr>
              <a:t>Word-of-mouth only goes so far. Most coaches spend more time marketing than coaching.</a:t>
            </a:r>
            <a:endParaRPr lang="en-US" sz="1200" dirty="0"/>
          </a:p>
        </p:txBody>
      </p:sp>
      <p:sp>
        <p:nvSpPr>
          <p:cNvPr id="13" name="Shape 10"/>
          <p:cNvSpPr/>
          <p:nvPr/>
        </p:nvSpPr>
        <p:spPr>
          <a:xfrm>
            <a:off x="3355848" y="1737360"/>
            <a:ext cx="2651760" cy="265176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14" name="Shape 11"/>
          <p:cNvSpPr/>
          <p:nvPr/>
        </p:nvSpPr>
        <p:spPr>
          <a:xfrm>
            <a:off x="3355848" y="1737360"/>
            <a:ext cx="54864" cy="2651760"/>
          </a:xfrm>
          <a:prstGeom prst="rect">
            <a:avLst/>
          </a:prstGeom>
          <a:solidFill>
            <a:srgbClr val="F97316"/>
          </a:solidFill>
          <a:ln/>
        </p:spPr>
      </p:sp>
      <p:pic>
        <p:nvPicPr>
          <p:cNvPr id="15" name="Image 1" descr="preencoded.png"/>
          <p:cNvPicPr>
            <a:picLocks noChangeAspect="1"/>
          </p:cNvPicPr>
          <p:nvPr/>
        </p:nvPicPr>
        <p:blipFill>
          <a:blip r:embed="rId4"/>
          <a:stretch>
            <a:fillRect/>
          </a:stretch>
        </p:blipFill>
        <p:spPr>
          <a:xfrm>
            <a:off x="3584448" y="1874520"/>
            <a:ext cx="411480" cy="411480"/>
          </a:xfrm>
          <a:prstGeom prst="rect">
            <a:avLst/>
          </a:prstGeom>
        </p:spPr>
      </p:pic>
      <p:sp>
        <p:nvSpPr>
          <p:cNvPr id="16" name="Text 12"/>
          <p:cNvSpPr/>
          <p:nvPr/>
        </p:nvSpPr>
        <p:spPr>
          <a:xfrm>
            <a:off x="3465576" y="2377440"/>
            <a:ext cx="2468880" cy="347472"/>
          </a:xfrm>
          <a:prstGeom prst="rect">
            <a:avLst/>
          </a:prstGeom>
          <a:noFill/>
          <a:ln/>
        </p:spPr>
        <p:txBody>
          <a:bodyPr wrap="square" rtlCol="0" anchor="ctr"/>
          <a:lstStyle/>
          <a:p>
            <a:pPr marL="0" indent="0">
              <a:buNone/>
            </a:pPr>
            <a:r>
              <a:rPr lang="en-US" sz="1500" b="1" dirty="0">
                <a:solidFill>
                  <a:srgbClr val="F3F4F6"/>
                </a:solidFill>
                <a:latin typeface="Arial Black" pitchFamily="34" charset="0"/>
                <a:ea typeface="Arial Black" pitchFamily="34" charset="-122"/>
                <a:cs typeface="Arial Black" pitchFamily="34" charset="-120"/>
              </a:rPr>
              <a:t>Proving Results</a:t>
            </a:r>
            <a:endParaRPr lang="en-US" sz="1500" dirty="0"/>
          </a:p>
        </p:txBody>
      </p:sp>
      <p:sp>
        <p:nvSpPr>
          <p:cNvPr id="17" name="Text 13"/>
          <p:cNvSpPr/>
          <p:nvPr/>
        </p:nvSpPr>
        <p:spPr>
          <a:xfrm>
            <a:off x="3465576" y="2743200"/>
            <a:ext cx="2468880" cy="1463040"/>
          </a:xfrm>
          <a:prstGeom prst="rect">
            <a:avLst/>
          </a:prstGeom>
          <a:noFill/>
          <a:ln/>
        </p:spPr>
        <p:txBody>
          <a:bodyPr wrap="square" rtlCol="0" anchor="ctr"/>
          <a:lstStyle/>
          <a:p>
            <a:pPr marL="0" indent="0">
              <a:lnSpc>
                <a:spcPct val="130000"/>
              </a:lnSpc>
              <a:buNone/>
            </a:pPr>
            <a:r>
              <a:rPr lang="en-US" sz="1200" dirty="0">
                <a:solidFill>
                  <a:srgbClr val="9CA3AF"/>
                </a:solidFill>
                <a:latin typeface="Arial" pitchFamily="34" charset="0"/>
                <a:ea typeface="Arial" pitchFamily="34" charset="-122"/>
                <a:cs typeface="Arial" pitchFamily="34" charset="-120"/>
              </a:rPr>
              <a:t>Without a structured tracking system, it's hard to show clients — and prospects — real progress data.</a:t>
            </a:r>
            <a:endParaRPr lang="en-US" sz="1200" dirty="0"/>
          </a:p>
        </p:txBody>
      </p:sp>
      <p:sp>
        <p:nvSpPr>
          <p:cNvPr id="18" name="Shape 14"/>
          <p:cNvSpPr/>
          <p:nvPr/>
        </p:nvSpPr>
        <p:spPr>
          <a:xfrm>
            <a:off x="6254496" y="1737360"/>
            <a:ext cx="2651760" cy="265176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19" name="Shape 15"/>
          <p:cNvSpPr/>
          <p:nvPr/>
        </p:nvSpPr>
        <p:spPr>
          <a:xfrm>
            <a:off x="6254496" y="1737360"/>
            <a:ext cx="54864" cy="2651760"/>
          </a:xfrm>
          <a:prstGeom prst="rect">
            <a:avLst/>
          </a:prstGeom>
          <a:solidFill>
            <a:srgbClr val="F97316"/>
          </a:solidFill>
          <a:ln/>
        </p:spPr>
      </p:sp>
      <p:pic>
        <p:nvPicPr>
          <p:cNvPr id="20" name="Image 2" descr="preencoded.png"/>
          <p:cNvPicPr>
            <a:picLocks noChangeAspect="1"/>
          </p:cNvPicPr>
          <p:nvPr/>
        </p:nvPicPr>
        <p:blipFill>
          <a:blip r:embed="rId5"/>
          <a:stretch>
            <a:fillRect/>
          </a:stretch>
        </p:blipFill>
        <p:spPr>
          <a:xfrm>
            <a:off x="6483096" y="1874520"/>
            <a:ext cx="411480" cy="411480"/>
          </a:xfrm>
          <a:prstGeom prst="rect">
            <a:avLst/>
          </a:prstGeom>
        </p:spPr>
      </p:pic>
      <p:sp>
        <p:nvSpPr>
          <p:cNvPr id="21" name="Text 16"/>
          <p:cNvSpPr/>
          <p:nvPr/>
        </p:nvSpPr>
        <p:spPr>
          <a:xfrm>
            <a:off x="6364224" y="2377440"/>
            <a:ext cx="2468880" cy="347472"/>
          </a:xfrm>
          <a:prstGeom prst="rect">
            <a:avLst/>
          </a:prstGeom>
          <a:noFill/>
          <a:ln/>
        </p:spPr>
        <p:txBody>
          <a:bodyPr wrap="square" rtlCol="0" anchor="ctr"/>
          <a:lstStyle/>
          <a:p>
            <a:pPr marL="0" indent="0">
              <a:buNone/>
            </a:pPr>
            <a:r>
              <a:rPr lang="en-US" sz="1500" b="1" dirty="0">
                <a:solidFill>
                  <a:srgbClr val="F3F4F6"/>
                </a:solidFill>
                <a:latin typeface="Arial Black" pitchFamily="34" charset="0"/>
                <a:ea typeface="Arial Black" pitchFamily="34" charset="-122"/>
                <a:cs typeface="Arial Black" pitchFamily="34" charset="-120"/>
              </a:rPr>
              <a:t>Managing Everything</a:t>
            </a:r>
            <a:endParaRPr lang="en-US" sz="1500" dirty="0"/>
          </a:p>
        </p:txBody>
      </p:sp>
      <p:sp>
        <p:nvSpPr>
          <p:cNvPr id="22" name="Text 17"/>
          <p:cNvSpPr/>
          <p:nvPr/>
        </p:nvSpPr>
        <p:spPr>
          <a:xfrm>
            <a:off x="6364224" y="2743200"/>
            <a:ext cx="2468880" cy="1463040"/>
          </a:xfrm>
          <a:prstGeom prst="rect">
            <a:avLst/>
          </a:prstGeom>
          <a:noFill/>
          <a:ln/>
        </p:spPr>
        <p:txBody>
          <a:bodyPr wrap="square" rtlCol="0" anchor="ctr"/>
          <a:lstStyle/>
          <a:p>
            <a:pPr marL="0" indent="0">
              <a:lnSpc>
                <a:spcPct val="130000"/>
              </a:lnSpc>
              <a:buNone/>
            </a:pPr>
            <a:r>
              <a:rPr lang="en-US" sz="1200" dirty="0">
                <a:solidFill>
                  <a:srgbClr val="9CA3AF"/>
                </a:solidFill>
                <a:latin typeface="Arial" pitchFamily="34" charset="0"/>
                <a:ea typeface="Arial" pitchFamily="34" charset="-122"/>
                <a:cs typeface="Arial" pitchFamily="34" charset="-120"/>
              </a:rPr>
              <a:t>Juggling WhatsApp, spreadsheets, Instagram DMs, and payments across multiple tools wastes hours every week.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Shape 1"/>
          <p:cNvSpPr/>
          <p:nvPr/>
        </p:nvSpPr>
        <p:spPr>
          <a:xfrm>
            <a:off x="457200" y="347472"/>
            <a:ext cx="2011680" cy="256032"/>
          </a:xfrm>
          <a:prstGeom prst="rect">
            <a:avLst/>
          </a:prstGeom>
          <a:solidFill>
            <a:srgbClr val="F97316"/>
          </a:solidFill>
          <a:ln/>
        </p:spPr>
      </p:sp>
      <p:sp>
        <p:nvSpPr>
          <p:cNvPr id="4" name="Text 2"/>
          <p:cNvSpPr/>
          <p:nvPr/>
        </p:nvSpPr>
        <p:spPr>
          <a:xfrm>
            <a:off x="457200" y="347472"/>
            <a:ext cx="2011680" cy="256032"/>
          </a:xfrm>
          <a:prstGeom prst="rect">
            <a:avLst/>
          </a:prstGeom>
          <a:noFill/>
          <a:ln/>
        </p:spPr>
        <p:txBody>
          <a:bodyPr wrap="square" lIns="0" tIns="0" rIns="0" bIns="0" rtlCol="0" anchor="ctr"/>
          <a:lstStyle/>
          <a:p>
            <a:pPr marL="0" indent="0" algn="ctr">
              <a:buNone/>
            </a:pPr>
            <a:r>
              <a:rPr lang="en-US" sz="900" b="1" dirty="0">
                <a:solidFill>
                  <a:srgbClr val="FFFFFF"/>
                </a:solidFill>
              </a:rPr>
              <a:t>THE SOLUTION</a:t>
            </a:r>
            <a:endParaRPr lang="en-US" sz="900" dirty="0"/>
          </a:p>
        </p:txBody>
      </p:sp>
      <p:sp>
        <p:nvSpPr>
          <p:cNvPr id="5" name="Text 3"/>
          <p:cNvSpPr/>
          <p:nvPr/>
        </p:nvSpPr>
        <p:spPr>
          <a:xfrm>
            <a:off x="457200" y="658368"/>
            <a:ext cx="8229600" cy="566928"/>
          </a:xfrm>
          <a:prstGeom prst="rect">
            <a:avLst/>
          </a:prstGeom>
          <a:noFill/>
          <a:ln/>
        </p:spPr>
        <p:txBody>
          <a:bodyPr wrap="square" rtlCol="0" anchor="ctr">
            <a:spAutoFit/>
          </a:bodyPr>
          <a:lstStyle/>
          <a:p>
            <a:pPr marL="0" indent="0">
              <a:buNone/>
            </a:pPr>
            <a:r>
              <a:rPr lang="en-US" sz="2800" b="1" dirty="0">
                <a:solidFill>
                  <a:srgbClr val="F3F4F6"/>
                </a:solidFill>
                <a:latin typeface="Arial Black" pitchFamily="34" charset="0"/>
                <a:ea typeface="Arial Black" pitchFamily="34" charset="-122"/>
                <a:cs typeface="Arial Black" pitchFamily="34" charset="-120"/>
              </a:rPr>
              <a:t>Introducing CoachAndTrack.</a:t>
            </a:r>
            <a:endParaRPr lang="en-US" sz="2800" dirty="0"/>
          </a:p>
        </p:txBody>
      </p:sp>
      <p:sp>
        <p:nvSpPr>
          <p:cNvPr id="6" name="Text 4"/>
          <p:cNvSpPr/>
          <p:nvPr/>
        </p:nvSpPr>
        <p:spPr>
          <a:xfrm>
            <a:off x="457200" y="1243584"/>
            <a:ext cx="8229600" cy="329184"/>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One platform that handles discovery, tracking, and client management — all in one place.</a:t>
            </a:r>
            <a:endParaRPr lang="en-US" sz="13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3</a:t>
            </a:r>
            <a:endParaRPr lang="en-US" sz="900" dirty="0"/>
          </a:p>
        </p:txBody>
      </p:sp>
      <p:sp>
        <p:nvSpPr>
          <p:cNvPr id="8" name="Shape 6"/>
          <p:cNvSpPr/>
          <p:nvPr/>
        </p:nvSpPr>
        <p:spPr>
          <a:xfrm>
            <a:off x="457200" y="1691640"/>
            <a:ext cx="4023360" cy="3108960"/>
          </a:xfrm>
          <a:prstGeom prst="rect">
            <a:avLst/>
          </a:prstGeom>
          <a:solidFill>
            <a:srgbClr val="121A2A"/>
          </a:solidFill>
          <a:ln w="12700">
            <a:solidFill>
              <a:srgbClr val="1F2A3A"/>
            </a:solidFill>
            <a:prstDash val="solid"/>
          </a:ln>
        </p:spPr>
      </p:sp>
      <p:sp>
        <p:nvSpPr>
          <p:cNvPr id="9" name="Text 7"/>
          <p:cNvSpPr/>
          <p:nvPr/>
        </p:nvSpPr>
        <p:spPr>
          <a:xfrm>
            <a:off x="594360" y="1828800"/>
            <a:ext cx="3749040" cy="365760"/>
          </a:xfrm>
          <a:prstGeom prst="rect">
            <a:avLst/>
          </a:prstGeom>
          <a:noFill/>
          <a:ln/>
        </p:spPr>
        <p:txBody>
          <a:bodyPr wrap="square" rtlCol="0" anchor="ctr"/>
          <a:lstStyle/>
          <a:p>
            <a:pPr marL="0" indent="0">
              <a:buNone/>
            </a:pPr>
            <a:r>
              <a:rPr lang="en-US" sz="1400" b="1" dirty="0">
                <a:solidFill>
                  <a:srgbClr val="F97316"/>
                </a:solidFill>
                <a:latin typeface="Arial Black" pitchFamily="34" charset="0"/>
                <a:ea typeface="Arial Black" pitchFamily="34" charset="-122"/>
                <a:cs typeface="Arial Black" pitchFamily="34" charset="-120"/>
              </a:rPr>
              <a:t>What CoachAndTrack Does</a:t>
            </a:r>
            <a:endParaRPr lang="en-US" sz="1400" dirty="0"/>
          </a:p>
        </p:txBody>
      </p:sp>
      <p:sp>
        <p:nvSpPr>
          <p:cNvPr id="10" name="Shape 8"/>
          <p:cNvSpPr/>
          <p:nvPr/>
        </p:nvSpPr>
        <p:spPr>
          <a:xfrm>
            <a:off x="594360" y="2331720"/>
            <a:ext cx="201168" cy="201168"/>
          </a:xfrm>
          <a:prstGeom prst="line">
            <a:avLst/>
          </a:prstGeom>
          <a:solidFill>
            <a:srgbClr val="F97316"/>
          </a:solidFill>
          <a:ln/>
        </p:spPr>
      </p:sp>
      <p:sp>
        <p:nvSpPr>
          <p:cNvPr id="11" name="Text 9"/>
          <p:cNvSpPr/>
          <p:nvPr/>
        </p:nvSpPr>
        <p:spPr>
          <a:xfrm>
            <a:off x="896112" y="2304288"/>
            <a:ext cx="3383280" cy="274320"/>
          </a:xfrm>
          <a:prstGeom prst="rect">
            <a:avLst/>
          </a:prstGeom>
          <a:noFill/>
          <a:ln/>
        </p:spPr>
        <p:txBody>
          <a:bodyPr wrap="square" rtlCol="0" anchor="ctr"/>
          <a:lstStyle/>
          <a:p>
            <a:pPr marL="0" indent="0">
              <a:buNone/>
            </a:pPr>
            <a:r>
              <a:rPr lang="en-US" sz="1150" dirty="0">
                <a:solidFill>
                  <a:srgbClr val="F3F4F6"/>
                </a:solidFill>
                <a:latin typeface="Arial" pitchFamily="34" charset="0"/>
                <a:ea typeface="Arial" pitchFamily="34" charset="-122"/>
                <a:cs typeface="Arial" pitchFamily="34" charset="-120"/>
              </a:rPr>
              <a:t>Clients discover and connect with you through our marketplace</a:t>
            </a:r>
            <a:endParaRPr lang="en-US" sz="1150" dirty="0"/>
          </a:p>
        </p:txBody>
      </p:sp>
      <p:sp>
        <p:nvSpPr>
          <p:cNvPr id="12" name="Shape 10"/>
          <p:cNvSpPr/>
          <p:nvPr/>
        </p:nvSpPr>
        <p:spPr>
          <a:xfrm>
            <a:off x="594360" y="2788920"/>
            <a:ext cx="201168" cy="201168"/>
          </a:xfrm>
          <a:prstGeom prst="line">
            <a:avLst/>
          </a:prstGeom>
          <a:solidFill>
            <a:srgbClr val="F97316"/>
          </a:solidFill>
          <a:ln/>
        </p:spPr>
      </p:sp>
      <p:sp>
        <p:nvSpPr>
          <p:cNvPr id="13" name="Text 11"/>
          <p:cNvSpPr/>
          <p:nvPr/>
        </p:nvSpPr>
        <p:spPr>
          <a:xfrm>
            <a:off x="896112" y="2761488"/>
            <a:ext cx="3383280" cy="274320"/>
          </a:xfrm>
          <a:prstGeom prst="rect">
            <a:avLst/>
          </a:prstGeom>
          <a:noFill/>
          <a:ln/>
        </p:spPr>
        <p:txBody>
          <a:bodyPr wrap="square" rtlCol="0" anchor="ctr"/>
          <a:lstStyle/>
          <a:p>
            <a:pPr marL="0" indent="0">
              <a:buNone/>
            </a:pPr>
            <a:r>
              <a:rPr lang="en-US" sz="1150" dirty="0">
                <a:solidFill>
                  <a:srgbClr val="F3F4F6"/>
                </a:solidFill>
                <a:latin typeface="Arial" pitchFamily="34" charset="0"/>
                <a:ea typeface="Arial" pitchFamily="34" charset="-122"/>
                <a:cs typeface="Arial" pitchFamily="34" charset="-120"/>
              </a:rPr>
              <a:t>Built-in progress tracking tools — clients log workouts &amp; results</a:t>
            </a:r>
            <a:endParaRPr lang="en-US" sz="1150" dirty="0"/>
          </a:p>
        </p:txBody>
      </p:sp>
      <p:sp>
        <p:nvSpPr>
          <p:cNvPr id="14" name="Shape 12"/>
          <p:cNvSpPr/>
          <p:nvPr/>
        </p:nvSpPr>
        <p:spPr>
          <a:xfrm>
            <a:off x="594360" y="3246120"/>
            <a:ext cx="201168" cy="201168"/>
          </a:xfrm>
          <a:prstGeom prst="line">
            <a:avLst/>
          </a:prstGeom>
          <a:solidFill>
            <a:srgbClr val="F97316"/>
          </a:solidFill>
          <a:ln/>
        </p:spPr>
      </p:sp>
      <p:sp>
        <p:nvSpPr>
          <p:cNvPr id="15" name="Text 13"/>
          <p:cNvSpPr/>
          <p:nvPr/>
        </p:nvSpPr>
        <p:spPr>
          <a:xfrm>
            <a:off x="896112" y="3218688"/>
            <a:ext cx="3383280" cy="274320"/>
          </a:xfrm>
          <a:prstGeom prst="rect">
            <a:avLst/>
          </a:prstGeom>
          <a:noFill/>
          <a:ln/>
        </p:spPr>
        <p:txBody>
          <a:bodyPr wrap="square" rtlCol="0" anchor="ctr"/>
          <a:lstStyle/>
          <a:p>
            <a:pPr marL="0" indent="0">
              <a:buNone/>
            </a:pPr>
            <a:r>
              <a:rPr lang="en-US" sz="1150" dirty="0">
                <a:solidFill>
                  <a:srgbClr val="F3F4F6"/>
                </a:solidFill>
                <a:latin typeface="Arial" pitchFamily="34" charset="0"/>
                <a:ea typeface="Arial" pitchFamily="34" charset="-122"/>
                <a:cs typeface="Arial" pitchFamily="34" charset="-120"/>
              </a:rPr>
              <a:t>Clients can share their progress on social media (viral growth)</a:t>
            </a:r>
            <a:endParaRPr lang="en-US" sz="1150" dirty="0"/>
          </a:p>
        </p:txBody>
      </p:sp>
      <p:sp>
        <p:nvSpPr>
          <p:cNvPr id="16" name="Shape 14"/>
          <p:cNvSpPr/>
          <p:nvPr/>
        </p:nvSpPr>
        <p:spPr>
          <a:xfrm>
            <a:off x="594360" y="3703320"/>
            <a:ext cx="201168" cy="201168"/>
          </a:xfrm>
          <a:prstGeom prst="line">
            <a:avLst/>
          </a:prstGeom>
          <a:solidFill>
            <a:srgbClr val="F97316"/>
          </a:solidFill>
          <a:ln/>
        </p:spPr>
      </p:sp>
      <p:sp>
        <p:nvSpPr>
          <p:cNvPr id="17" name="Text 15"/>
          <p:cNvSpPr/>
          <p:nvPr/>
        </p:nvSpPr>
        <p:spPr>
          <a:xfrm>
            <a:off x="896112" y="3675888"/>
            <a:ext cx="3383280" cy="274320"/>
          </a:xfrm>
          <a:prstGeom prst="rect">
            <a:avLst/>
          </a:prstGeom>
          <a:noFill/>
          <a:ln/>
        </p:spPr>
        <p:txBody>
          <a:bodyPr wrap="square" rtlCol="0" anchor="ctr"/>
          <a:lstStyle/>
          <a:p>
            <a:pPr marL="0" indent="0">
              <a:buNone/>
            </a:pPr>
            <a:r>
              <a:rPr lang="en-US" sz="1150" dirty="0">
                <a:solidFill>
                  <a:srgbClr val="F3F4F6"/>
                </a:solidFill>
                <a:latin typeface="Arial" pitchFamily="34" charset="0"/>
                <a:ea typeface="Arial" pitchFamily="34" charset="-122"/>
                <a:cs typeface="Arial" pitchFamily="34" charset="-120"/>
              </a:rPr>
              <a:t>Direct messaging between you and your clients</a:t>
            </a:r>
            <a:endParaRPr lang="en-US" sz="1150" dirty="0"/>
          </a:p>
        </p:txBody>
      </p:sp>
      <p:sp>
        <p:nvSpPr>
          <p:cNvPr id="18" name="Shape 16"/>
          <p:cNvSpPr/>
          <p:nvPr/>
        </p:nvSpPr>
        <p:spPr>
          <a:xfrm>
            <a:off x="594360" y="4160520"/>
            <a:ext cx="201168" cy="201168"/>
          </a:xfrm>
          <a:prstGeom prst="line">
            <a:avLst/>
          </a:prstGeom>
          <a:solidFill>
            <a:srgbClr val="F97316"/>
          </a:solidFill>
          <a:ln/>
        </p:spPr>
      </p:sp>
      <p:sp>
        <p:nvSpPr>
          <p:cNvPr id="19" name="Text 17"/>
          <p:cNvSpPr/>
          <p:nvPr/>
        </p:nvSpPr>
        <p:spPr>
          <a:xfrm>
            <a:off x="896112" y="4133088"/>
            <a:ext cx="3383280" cy="274320"/>
          </a:xfrm>
          <a:prstGeom prst="rect">
            <a:avLst/>
          </a:prstGeom>
          <a:noFill/>
          <a:ln/>
        </p:spPr>
        <p:txBody>
          <a:bodyPr wrap="square" rtlCol="0" anchor="ctr"/>
          <a:lstStyle/>
          <a:p>
            <a:pPr marL="0" indent="0">
              <a:buNone/>
            </a:pPr>
            <a:r>
              <a:rPr lang="en-US" sz="1150" dirty="0">
                <a:solidFill>
                  <a:srgbClr val="F3F4F6"/>
                </a:solidFill>
                <a:latin typeface="Arial" pitchFamily="34" charset="0"/>
                <a:ea typeface="Arial" pitchFamily="34" charset="-122"/>
                <a:cs typeface="Arial" pitchFamily="34" charset="-120"/>
              </a:rPr>
              <a:t>Manage all your clients from one clean dashboard</a:t>
            </a:r>
            <a:endParaRPr lang="en-US" sz="1150" dirty="0"/>
          </a:p>
        </p:txBody>
      </p:sp>
      <p:sp>
        <p:nvSpPr>
          <p:cNvPr id="20" name="Shape 18"/>
          <p:cNvSpPr/>
          <p:nvPr/>
        </p:nvSpPr>
        <p:spPr>
          <a:xfrm>
            <a:off x="4754880" y="1691640"/>
            <a:ext cx="3931920" cy="914400"/>
          </a:xfrm>
          <a:prstGeom prst="rect">
            <a:avLst/>
          </a:prstGeom>
          <a:solidFill>
            <a:srgbClr val="1A2235"/>
          </a:solidFill>
          <a:ln w="12700">
            <a:solidFill>
              <a:srgbClr val="1F2A3A"/>
            </a:solidFill>
            <a:prstDash val="solid"/>
          </a:ln>
        </p:spPr>
      </p:sp>
      <p:sp>
        <p:nvSpPr>
          <p:cNvPr id="21" name="Shape 19"/>
          <p:cNvSpPr/>
          <p:nvPr/>
        </p:nvSpPr>
        <p:spPr>
          <a:xfrm>
            <a:off x="4754880" y="1691640"/>
            <a:ext cx="54864" cy="914400"/>
          </a:xfrm>
          <a:prstGeom prst="rect">
            <a:avLst/>
          </a:prstGeom>
          <a:solidFill>
            <a:srgbClr val="F97316"/>
          </a:solidFill>
          <a:ln/>
        </p:spPr>
      </p:sp>
      <p:sp>
        <p:nvSpPr>
          <p:cNvPr id="22" name="Text 20"/>
          <p:cNvSpPr/>
          <p:nvPr/>
        </p:nvSpPr>
        <p:spPr>
          <a:xfrm>
            <a:off x="4937760" y="1764792"/>
            <a:ext cx="1371600" cy="749808"/>
          </a:xfrm>
          <a:prstGeom prst="rect">
            <a:avLst/>
          </a:prstGeom>
          <a:noFill/>
          <a:ln/>
        </p:spPr>
        <p:txBody>
          <a:bodyPr wrap="square" rtlCol="0" anchor="ctr"/>
          <a:lstStyle/>
          <a:p>
            <a:pPr marL="0" indent="0">
              <a:buNone/>
            </a:pPr>
            <a:r>
              <a:rPr lang="en-US" sz="2800" b="1" dirty="0">
                <a:solidFill>
                  <a:srgbClr val="F97316"/>
                </a:solidFill>
                <a:latin typeface="Arial Black" pitchFamily="34" charset="0"/>
                <a:ea typeface="Arial Black" pitchFamily="34" charset="-122"/>
                <a:cs typeface="Arial Black" pitchFamily="34" charset="-120"/>
              </a:rPr>
              <a:t>FREE</a:t>
            </a:r>
            <a:endParaRPr lang="en-US" sz="2800" dirty="0"/>
          </a:p>
        </p:txBody>
      </p:sp>
      <p:sp>
        <p:nvSpPr>
          <p:cNvPr id="23" name="Text 21"/>
          <p:cNvSpPr/>
          <p:nvPr/>
        </p:nvSpPr>
        <p:spPr>
          <a:xfrm>
            <a:off x="6080760" y="1892808"/>
            <a:ext cx="2468880" cy="548640"/>
          </a:xfrm>
          <a:prstGeom prst="rect">
            <a:avLst/>
          </a:prstGeom>
          <a:noFill/>
          <a:ln/>
        </p:spPr>
        <p:txBody>
          <a:bodyPr wrap="square" rtlCol="0" anchor="ctr"/>
          <a:lstStyle/>
          <a:p>
            <a:pPr marL="0" indent="0">
              <a:buNone/>
            </a:pPr>
            <a:r>
              <a:rPr lang="en-US" sz="1300" dirty="0">
                <a:solidFill>
                  <a:srgbClr val="F3F4F6"/>
                </a:solidFill>
                <a:latin typeface="Arial" pitchFamily="34" charset="0"/>
                <a:ea typeface="Arial" pitchFamily="34" charset="-122"/>
                <a:cs typeface="Arial" pitchFamily="34" charset="-120"/>
              </a:rPr>
              <a:t>To join as a founding coach</a:t>
            </a:r>
            <a:endParaRPr lang="en-US" sz="1300" dirty="0"/>
          </a:p>
        </p:txBody>
      </p:sp>
      <p:sp>
        <p:nvSpPr>
          <p:cNvPr id="24" name="Shape 22"/>
          <p:cNvSpPr/>
          <p:nvPr/>
        </p:nvSpPr>
        <p:spPr>
          <a:xfrm>
            <a:off x="4754880" y="2743200"/>
            <a:ext cx="3931920" cy="914400"/>
          </a:xfrm>
          <a:prstGeom prst="rect">
            <a:avLst/>
          </a:prstGeom>
          <a:solidFill>
            <a:srgbClr val="1A2235"/>
          </a:solidFill>
          <a:ln w="12700">
            <a:solidFill>
              <a:srgbClr val="1F2A3A"/>
            </a:solidFill>
            <a:prstDash val="solid"/>
          </a:ln>
        </p:spPr>
      </p:sp>
      <p:sp>
        <p:nvSpPr>
          <p:cNvPr id="25" name="Shape 23"/>
          <p:cNvSpPr/>
          <p:nvPr/>
        </p:nvSpPr>
        <p:spPr>
          <a:xfrm>
            <a:off x="4754880" y="2743200"/>
            <a:ext cx="54864" cy="914400"/>
          </a:xfrm>
          <a:prstGeom prst="rect">
            <a:avLst/>
          </a:prstGeom>
          <a:solidFill>
            <a:srgbClr val="22C55E"/>
          </a:solidFill>
          <a:ln/>
        </p:spPr>
      </p:sp>
      <p:sp>
        <p:nvSpPr>
          <p:cNvPr id="26" name="Text 24"/>
          <p:cNvSpPr/>
          <p:nvPr/>
        </p:nvSpPr>
        <p:spPr>
          <a:xfrm>
            <a:off x="4937760" y="2816352"/>
            <a:ext cx="1371600" cy="749808"/>
          </a:xfrm>
          <a:prstGeom prst="rect">
            <a:avLst/>
          </a:prstGeom>
          <a:noFill/>
          <a:ln/>
        </p:spPr>
        <p:txBody>
          <a:bodyPr wrap="square" rtlCol="0" anchor="ctr"/>
          <a:lstStyle/>
          <a:p>
            <a:pPr marL="0" indent="0">
              <a:buNone/>
            </a:pPr>
            <a:r>
              <a:rPr lang="en-US" sz="2800" b="1" dirty="0">
                <a:solidFill>
                  <a:srgbClr val="22C55E"/>
                </a:solidFill>
                <a:latin typeface="Arial Black" pitchFamily="34" charset="0"/>
                <a:ea typeface="Arial Black" pitchFamily="34" charset="-122"/>
                <a:cs typeface="Arial Black" pitchFamily="34" charset="-120"/>
              </a:rPr>
              <a:t>70%</a:t>
            </a:r>
            <a:endParaRPr lang="en-US" sz="2800" dirty="0"/>
          </a:p>
        </p:txBody>
      </p:sp>
      <p:sp>
        <p:nvSpPr>
          <p:cNvPr id="27" name="Text 25"/>
          <p:cNvSpPr/>
          <p:nvPr/>
        </p:nvSpPr>
        <p:spPr>
          <a:xfrm>
            <a:off x="6080760" y="2944368"/>
            <a:ext cx="2468880" cy="548640"/>
          </a:xfrm>
          <a:prstGeom prst="rect">
            <a:avLst/>
          </a:prstGeom>
          <a:noFill/>
          <a:ln/>
        </p:spPr>
        <p:txBody>
          <a:bodyPr wrap="square" rtlCol="0" anchor="ctr"/>
          <a:lstStyle/>
          <a:p>
            <a:pPr marL="0" indent="0">
              <a:buNone/>
            </a:pPr>
            <a:r>
              <a:rPr lang="en-US" sz="1300" dirty="0">
                <a:solidFill>
                  <a:srgbClr val="F3F4F6"/>
                </a:solidFill>
                <a:latin typeface="Arial" pitchFamily="34" charset="0"/>
                <a:ea typeface="Arial" pitchFamily="34" charset="-122"/>
                <a:cs typeface="Arial" pitchFamily="34" charset="-120"/>
              </a:rPr>
              <a:t>Revenue share to you</a:t>
            </a:r>
            <a:endParaRPr lang="en-US" sz="1300" dirty="0"/>
          </a:p>
        </p:txBody>
      </p:sp>
      <p:sp>
        <p:nvSpPr>
          <p:cNvPr id="28" name="Shape 26"/>
          <p:cNvSpPr/>
          <p:nvPr/>
        </p:nvSpPr>
        <p:spPr>
          <a:xfrm>
            <a:off x="4754880" y="3794760"/>
            <a:ext cx="3931920" cy="914400"/>
          </a:xfrm>
          <a:prstGeom prst="rect">
            <a:avLst/>
          </a:prstGeom>
          <a:solidFill>
            <a:srgbClr val="1A2235"/>
          </a:solidFill>
          <a:ln w="12700">
            <a:solidFill>
              <a:srgbClr val="1F2A3A"/>
            </a:solidFill>
            <a:prstDash val="solid"/>
          </a:ln>
        </p:spPr>
      </p:sp>
      <p:sp>
        <p:nvSpPr>
          <p:cNvPr id="29" name="Shape 27"/>
          <p:cNvSpPr/>
          <p:nvPr/>
        </p:nvSpPr>
        <p:spPr>
          <a:xfrm>
            <a:off x="4754880" y="3794760"/>
            <a:ext cx="54864" cy="914400"/>
          </a:xfrm>
          <a:prstGeom prst="rect">
            <a:avLst/>
          </a:prstGeom>
          <a:solidFill>
            <a:srgbClr val="F97316"/>
          </a:solidFill>
          <a:ln/>
        </p:spPr>
      </p:sp>
      <p:sp>
        <p:nvSpPr>
          <p:cNvPr id="30" name="Text 28"/>
          <p:cNvSpPr/>
          <p:nvPr/>
        </p:nvSpPr>
        <p:spPr>
          <a:xfrm>
            <a:off x="4937760" y="3867912"/>
            <a:ext cx="1371600" cy="749808"/>
          </a:xfrm>
          <a:prstGeom prst="rect">
            <a:avLst/>
          </a:prstGeom>
          <a:noFill/>
          <a:ln/>
        </p:spPr>
        <p:txBody>
          <a:bodyPr wrap="square" rtlCol="0" anchor="ctr"/>
          <a:lstStyle/>
          <a:p>
            <a:pPr marL="0" indent="0">
              <a:buNone/>
            </a:pPr>
            <a:r>
              <a:rPr lang="en-US" sz="2800" b="1" dirty="0">
                <a:solidFill>
                  <a:srgbClr val="F97316"/>
                </a:solidFill>
                <a:latin typeface="Arial Black" pitchFamily="34" charset="0"/>
                <a:ea typeface="Arial Black" pitchFamily="34" charset="-122"/>
                <a:cs typeface="Arial Black" pitchFamily="34" charset="-120"/>
              </a:rPr>
              <a:t>1</a:t>
            </a:r>
            <a:endParaRPr lang="en-US" sz="2800" dirty="0"/>
          </a:p>
        </p:txBody>
      </p:sp>
      <p:sp>
        <p:nvSpPr>
          <p:cNvPr id="31" name="Text 29"/>
          <p:cNvSpPr/>
          <p:nvPr/>
        </p:nvSpPr>
        <p:spPr>
          <a:xfrm>
            <a:off x="6080760" y="3995928"/>
            <a:ext cx="2468880" cy="548640"/>
          </a:xfrm>
          <a:prstGeom prst="rect">
            <a:avLst/>
          </a:prstGeom>
          <a:noFill/>
          <a:ln/>
        </p:spPr>
        <p:txBody>
          <a:bodyPr wrap="square" rtlCol="0" anchor="ctr"/>
          <a:lstStyle/>
          <a:p>
            <a:pPr marL="0" indent="0">
              <a:buNone/>
            </a:pPr>
            <a:r>
              <a:rPr lang="en-US" sz="1300" dirty="0">
                <a:solidFill>
                  <a:srgbClr val="F3F4F6"/>
                </a:solidFill>
                <a:latin typeface="Arial" pitchFamily="34" charset="0"/>
                <a:ea typeface="Arial" pitchFamily="34" charset="-122"/>
                <a:cs typeface="Arial" pitchFamily="34" charset="-120"/>
              </a:rPr>
              <a:t>Dashboard for everything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Shape 1"/>
          <p:cNvSpPr/>
          <p:nvPr/>
        </p:nvSpPr>
        <p:spPr>
          <a:xfrm>
            <a:off x="457200" y="347472"/>
            <a:ext cx="2011680" cy="256032"/>
          </a:xfrm>
          <a:prstGeom prst="rect">
            <a:avLst/>
          </a:prstGeom>
          <a:solidFill>
            <a:srgbClr val="F97316"/>
          </a:solidFill>
          <a:ln/>
        </p:spPr>
      </p:sp>
      <p:sp>
        <p:nvSpPr>
          <p:cNvPr id="4" name="Text 2"/>
          <p:cNvSpPr/>
          <p:nvPr/>
        </p:nvSpPr>
        <p:spPr>
          <a:xfrm>
            <a:off x="457200" y="347472"/>
            <a:ext cx="2011680" cy="256032"/>
          </a:xfrm>
          <a:prstGeom prst="rect">
            <a:avLst/>
          </a:prstGeom>
          <a:noFill/>
          <a:ln/>
        </p:spPr>
        <p:txBody>
          <a:bodyPr wrap="square" lIns="0" tIns="0" rIns="0" bIns="0" rtlCol="0" anchor="ctr"/>
          <a:lstStyle/>
          <a:p>
            <a:pPr marL="0" indent="0" algn="ctr">
              <a:buNone/>
            </a:pPr>
            <a:r>
              <a:rPr lang="en-US" sz="900" b="1" dirty="0">
                <a:solidFill>
                  <a:srgbClr val="FFFFFF"/>
                </a:solidFill>
              </a:rPr>
              <a:t>HOW IT WORKS</a:t>
            </a:r>
            <a:endParaRPr lang="en-US" sz="900" dirty="0"/>
          </a:p>
        </p:txBody>
      </p:sp>
      <p:sp>
        <p:nvSpPr>
          <p:cNvPr id="5" name="Text 3"/>
          <p:cNvSpPr/>
          <p:nvPr/>
        </p:nvSpPr>
        <p:spPr>
          <a:xfrm>
            <a:off x="457200" y="658368"/>
            <a:ext cx="8229600" cy="566928"/>
          </a:xfrm>
          <a:prstGeom prst="rect">
            <a:avLst/>
          </a:prstGeom>
          <a:noFill/>
          <a:ln/>
        </p:spPr>
        <p:txBody>
          <a:bodyPr wrap="square" rtlCol="0" anchor="ctr">
            <a:spAutoFit/>
          </a:bodyPr>
          <a:lstStyle/>
          <a:p>
            <a:pPr marL="0" indent="0">
              <a:buNone/>
            </a:pPr>
            <a:r>
              <a:rPr lang="en-US" sz="2800" b="1" dirty="0">
                <a:solidFill>
                  <a:srgbClr val="F3F4F6"/>
                </a:solidFill>
                <a:latin typeface="Arial Black" pitchFamily="34" charset="0"/>
                <a:ea typeface="Arial Black" pitchFamily="34" charset="-122"/>
                <a:cs typeface="Arial Black" pitchFamily="34" charset="-120"/>
              </a:rPr>
              <a:t>Simple. Fast. Powerful.</a:t>
            </a:r>
            <a:endParaRPr lang="en-US" sz="2800" dirty="0"/>
          </a:p>
        </p:txBody>
      </p:sp>
      <p:sp>
        <p:nvSpPr>
          <p:cNvPr id="6" name="Text 4"/>
          <p:cNvSpPr/>
          <p:nvPr/>
        </p:nvSpPr>
        <p:spPr>
          <a:xfrm>
            <a:off x="457200" y="1243584"/>
            <a:ext cx="8229600" cy="329184"/>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Getting started takes less than 30 minutes.</a:t>
            </a:r>
            <a:endParaRPr lang="en-US" sz="13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4</a:t>
            </a:r>
            <a:endParaRPr lang="en-US" sz="900" dirty="0"/>
          </a:p>
        </p:txBody>
      </p:sp>
      <p:sp>
        <p:nvSpPr>
          <p:cNvPr id="8" name="Shape 6"/>
          <p:cNvSpPr/>
          <p:nvPr/>
        </p:nvSpPr>
        <p:spPr>
          <a:xfrm>
            <a:off x="365760" y="1691640"/>
            <a:ext cx="1920240" cy="301752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9" name="Shape 7"/>
          <p:cNvSpPr/>
          <p:nvPr/>
        </p:nvSpPr>
        <p:spPr>
          <a:xfrm>
            <a:off x="365760" y="1691640"/>
            <a:ext cx="1920240" cy="502920"/>
          </a:xfrm>
          <a:prstGeom prst="rect">
            <a:avLst/>
          </a:prstGeom>
          <a:solidFill>
            <a:srgbClr val="EA580C"/>
          </a:solidFill>
          <a:ln/>
        </p:spPr>
      </p:sp>
      <p:sp>
        <p:nvSpPr>
          <p:cNvPr id="10" name="Text 8"/>
          <p:cNvSpPr/>
          <p:nvPr/>
        </p:nvSpPr>
        <p:spPr>
          <a:xfrm>
            <a:off x="365760" y="1691640"/>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01</a:t>
            </a:r>
            <a:endParaRPr lang="en-US" sz="2200" dirty="0"/>
          </a:p>
        </p:txBody>
      </p:sp>
      <p:pic>
        <p:nvPicPr>
          <p:cNvPr id="11" name="Image 0" descr="preencoded.png"/>
          <p:cNvPicPr>
            <a:picLocks noChangeAspect="1"/>
          </p:cNvPicPr>
          <p:nvPr/>
        </p:nvPicPr>
        <p:blipFill>
          <a:blip r:embed="rId3"/>
          <a:stretch>
            <a:fillRect/>
          </a:stretch>
        </p:blipFill>
        <p:spPr>
          <a:xfrm>
            <a:off x="1078992" y="2331720"/>
            <a:ext cx="457200" cy="457200"/>
          </a:xfrm>
          <a:prstGeom prst="rect">
            <a:avLst/>
          </a:prstGeom>
        </p:spPr>
      </p:pic>
      <p:sp>
        <p:nvSpPr>
          <p:cNvPr id="12" name="Text 9"/>
          <p:cNvSpPr/>
          <p:nvPr/>
        </p:nvSpPr>
        <p:spPr>
          <a:xfrm>
            <a:off x="457200" y="2880360"/>
            <a:ext cx="1737360" cy="411480"/>
          </a:xfrm>
          <a:prstGeom prst="rect">
            <a:avLst/>
          </a:prstGeom>
          <a:noFill/>
          <a:ln/>
        </p:spPr>
        <p:txBody>
          <a:bodyPr wrap="square" rtlCol="0" anchor="ctr"/>
          <a:lstStyle/>
          <a:p>
            <a:pPr marL="0" indent="0" algn="ctr">
              <a:buNone/>
            </a:pPr>
            <a:r>
              <a:rPr lang="en-US" sz="1300" b="1" dirty="0">
                <a:solidFill>
                  <a:srgbClr val="F3F4F6"/>
                </a:solidFill>
                <a:latin typeface="Arial Black" pitchFamily="34" charset="0"/>
                <a:ea typeface="Arial Black" pitchFamily="34" charset="-122"/>
                <a:cs typeface="Arial Black" pitchFamily="34" charset="-120"/>
              </a:rPr>
              <a:t>Apply as a Coach</a:t>
            </a:r>
            <a:endParaRPr lang="en-US" sz="1300" dirty="0"/>
          </a:p>
        </p:txBody>
      </p:sp>
      <p:sp>
        <p:nvSpPr>
          <p:cNvPr id="13" name="Text 10"/>
          <p:cNvSpPr/>
          <p:nvPr/>
        </p:nvSpPr>
        <p:spPr>
          <a:xfrm>
            <a:off x="457200" y="3291840"/>
            <a:ext cx="1737360" cy="1280160"/>
          </a:xfrm>
          <a:prstGeom prst="rect">
            <a:avLst/>
          </a:prstGeom>
          <a:noFill/>
          <a:ln/>
        </p:spPr>
        <p:txBody>
          <a:bodyPr wrap="square" rtlCol="0" anchor="ctr"/>
          <a:lstStyle/>
          <a:p>
            <a:pPr marL="0" indent="0" algn="ctr">
              <a:lnSpc>
                <a:spcPct val="130000"/>
              </a:lnSpc>
              <a:buNone/>
            </a:pPr>
            <a:r>
              <a:rPr lang="en-US" sz="1050" dirty="0">
                <a:solidFill>
                  <a:srgbClr val="9CA3AF"/>
                </a:solidFill>
                <a:latin typeface="Arial" pitchFamily="34" charset="0"/>
                <a:ea typeface="Arial" pitchFamily="34" charset="-122"/>
                <a:cs typeface="Arial" pitchFamily="34" charset="-120"/>
              </a:rPr>
              <a:t>Submit your profile — credentials, specialty, bio. Our team reviews and approves within 48 hours.</a:t>
            </a:r>
            <a:endParaRPr lang="en-US" sz="1050" dirty="0"/>
          </a:p>
        </p:txBody>
      </p:sp>
      <p:sp>
        <p:nvSpPr>
          <p:cNvPr id="14" name="Shape 11"/>
          <p:cNvSpPr/>
          <p:nvPr/>
        </p:nvSpPr>
        <p:spPr>
          <a:xfrm>
            <a:off x="2286000" y="2944368"/>
            <a:ext cx="201168" cy="0"/>
          </a:xfrm>
          <a:prstGeom prst="line">
            <a:avLst/>
          </a:prstGeom>
          <a:noFill/>
          <a:ln w="25400">
            <a:solidFill>
              <a:srgbClr val="F97316"/>
            </a:solidFill>
            <a:prstDash val="solid"/>
          </a:ln>
        </p:spPr>
      </p:sp>
      <p:sp>
        <p:nvSpPr>
          <p:cNvPr id="15" name="Shape 12"/>
          <p:cNvSpPr/>
          <p:nvPr/>
        </p:nvSpPr>
        <p:spPr>
          <a:xfrm>
            <a:off x="2487168" y="1691640"/>
            <a:ext cx="1920240" cy="301752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16" name="Shape 13"/>
          <p:cNvSpPr/>
          <p:nvPr/>
        </p:nvSpPr>
        <p:spPr>
          <a:xfrm>
            <a:off x="2487168" y="1691640"/>
            <a:ext cx="1920240" cy="502920"/>
          </a:xfrm>
          <a:prstGeom prst="rect">
            <a:avLst/>
          </a:prstGeom>
          <a:solidFill>
            <a:srgbClr val="16A34A"/>
          </a:solidFill>
          <a:ln/>
        </p:spPr>
      </p:sp>
      <p:sp>
        <p:nvSpPr>
          <p:cNvPr id="17" name="Text 14"/>
          <p:cNvSpPr/>
          <p:nvPr/>
        </p:nvSpPr>
        <p:spPr>
          <a:xfrm>
            <a:off x="2487168" y="1691640"/>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02</a:t>
            </a:r>
            <a:endParaRPr lang="en-US" sz="2200" dirty="0"/>
          </a:p>
        </p:txBody>
      </p:sp>
      <p:pic>
        <p:nvPicPr>
          <p:cNvPr id="18" name="Image 1" descr="preencoded.png"/>
          <p:cNvPicPr>
            <a:picLocks noChangeAspect="1"/>
          </p:cNvPicPr>
          <p:nvPr/>
        </p:nvPicPr>
        <p:blipFill>
          <a:blip r:embed="rId4"/>
          <a:stretch>
            <a:fillRect/>
          </a:stretch>
        </p:blipFill>
        <p:spPr>
          <a:xfrm>
            <a:off x="3200400" y="2331720"/>
            <a:ext cx="457200" cy="457200"/>
          </a:xfrm>
          <a:prstGeom prst="rect">
            <a:avLst/>
          </a:prstGeom>
        </p:spPr>
      </p:pic>
      <p:sp>
        <p:nvSpPr>
          <p:cNvPr id="19" name="Text 15"/>
          <p:cNvSpPr/>
          <p:nvPr/>
        </p:nvSpPr>
        <p:spPr>
          <a:xfrm>
            <a:off x="2578608" y="2880360"/>
            <a:ext cx="1737360" cy="411480"/>
          </a:xfrm>
          <a:prstGeom prst="rect">
            <a:avLst/>
          </a:prstGeom>
          <a:noFill/>
          <a:ln/>
        </p:spPr>
        <p:txBody>
          <a:bodyPr wrap="square" rtlCol="0" anchor="ctr"/>
          <a:lstStyle/>
          <a:p>
            <a:pPr marL="0" indent="0" algn="ctr">
              <a:buNone/>
            </a:pPr>
            <a:r>
              <a:rPr lang="en-US" sz="1300" b="1" dirty="0">
                <a:solidFill>
                  <a:srgbClr val="F3F4F6"/>
                </a:solidFill>
                <a:latin typeface="Arial Black" pitchFamily="34" charset="0"/>
                <a:ea typeface="Arial Black" pitchFamily="34" charset="-122"/>
                <a:cs typeface="Arial Black" pitchFamily="34" charset="-120"/>
              </a:rPr>
              <a:t>Get Discovered</a:t>
            </a:r>
            <a:endParaRPr lang="en-US" sz="1300" dirty="0"/>
          </a:p>
        </p:txBody>
      </p:sp>
      <p:sp>
        <p:nvSpPr>
          <p:cNvPr id="20" name="Text 16"/>
          <p:cNvSpPr/>
          <p:nvPr/>
        </p:nvSpPr>
        <p:spPr>
          <a:xfrm>
            <a:off x="2578608" y="3291840"/>
            <a:ext cx="1737360" cy="1280160"/>
          </a:xfrm>
          <a:prstGeom prst="rect">
            <a:avLst/>
          </a:prstGeom>
          <a:noFill/>
          <a:ln/>
        </p:spPr>
        <p:txBody>
          <a:bodyPr wrap="square" rtlCol="0" anchor="ctr"/>
          <a:lstStyle/>
          <a:p>
            <a:pPr marL="0" indent="0" algn="ctr">
              <a:lnSpc>
                <a:spcPct val="130000"/>
              </a:lnSpc>
              <a:buNone/>
            </a:pPr>
            <a:r>
              <a:rPr lang="en-US" sz="1050" dirty="0">
                <a:solidFill>
                  <a:srgbClr val="9CA3AF"/>
                </a:solidFill>
                <a:latin typeface="Arial" pitchFamily="34" charset="0"/>
                <a:ea typeface="Arial" pitchFamily="34" charset="-122"/>
                <a:cs typeface="Arial" pitchFamily="34" charset="-120"/>
              </a:rPr>
              <a:t>Clients browse by specialty, goal, and availability. You get matched with people serious about results.</a:t>
            </a:r>
            <a:endParaRPr lang="en-US" sz="1050" dirty="0"/>
          </a:p>
        </p:txBody>
      </p:sp>
      <p:sp>
        <p:nvSpPr>
          <p:cNvPr id="21" name="Shape 17"/>
          <p:cNvSpPr/>
          <p:nvPr/>
        </p:nvSpPr>
        <p:spPr>
          <a:xfrm>
            <a:off x="4407408" y="2944368"/>
            <a:ext cx="201168" cy="0"/>
          </a:xfrm>
          <a:prstGeom prst="line">
            <a:avLst/>
          </a:prstGeom>
          <a:noFill/>
          <a:ln w="25400">
            <a:solidFill>
              <a:srgbClr val="F97316"/>
            </a:solidFill>
            <a:prstDash val="solid"/>
          </a:ln>
        </p:spPr>
      </p:sp>
      <p:sp>
        <p:nvSpPr>
          <p:cNvPr id="22" name="Shape 18"/>
          <p:cNvSpPr/>
          <p:nvPr/>
        </p:nvSpPr>
        <p:spPr>
          <a:xfrm>
            <a:off x="4608576" y="1691640"/>
            <a:ext cx="1920240" cy="301752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23" name="Shape 19"/>
          <p:cNvSpPr/>
          <p:nvPr/>
        </p:nvSpPr>
        <p:spPr>
          <a:xfrm>
            <a:off x="4608576" y="1691640"/>
            <a:ext cx="1920240" cy="502920"/>
          </a:xfrm>
          <a:prstGeom prst="rect">
            <a:avLst/>
          </a:prstGeom>
          <a:solidFill>
            <a:srgbClr val="EA580C"/>
          </a:solidFill>
          <a:ln/>
        </p:spPr>
      </p:sp>
      <p:sp>
        <p:nvSpPr>
          <p:cNvPr id="24" name="Text 20"/>
          <p:cNvSpPr/>
          <p:nvPr/>
        </p:nvSpPr>
        <p:spPr>
          <a:xfrm>
            <a:off x="4608576" y="1691640"/>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03</a:t>
            </a:r>
            <a:endParaRPr lang="en-US" sz="2200" dirty="0"/>
          </a:p>
        </p:txBody>
      </p:sp>
      <p:pic>
        <p:nvPicPr>
          <p:cNvPr id="25" name="Image 2" descr="preencoded.png"/>
          <p:cNvPicPr>
            <a:picLocks noChangeAspect="1"/>
          </p:cNvPicPr>
          <p:nvPr/>
        </p:nvPicPr>
        <p:blipFill>
          <a:blip r:embed="rId5"/>
          <a:stretch>
            <a:fillRect/>
          </a:stretch>
        </p:blipFill>
        <p:spPr>
          <a:xfrm>
            <a:off x="5321808" y="2331720"/>
            <a:ext cx="457200" cy="457200"/>
          </a:xfrm>
          <a:prstGeom prst="rect">
            <a:avLst/>
          </a:prstGeom>
        </p:spPr>
      </p:pic>
      <p:sp>
        <p:nvSpPr>
          <p:cNvPr id="26" name="Text 21"/>
          <p:cNvSpPr/>
          <p:nvPr/>
        </p:nvSpPr>
        <p:spPr>
          <a:xfrm>
            <a:off x="4700016" y="2880360"/>
            <a:ext cx="1737360" cy="411480"/>
          </a:xfrm>
          <a:prstGeom prst="rect">
            <a:avLst/>
          </a:prstGeom>
          <a:noFill/>
          <a:ln/>
        </p:spPr>
        <p:txBody>
          <a:bodyPr wrap="square" rtlCol="0" anchor="ctr"/>
          <a:lstStyle/>
          <a:p>
            <a:pPr marL="0" indent="0" algn="ctr">
              <a:buNone/>
            </a:pPr>
            <a:r>
              <a:rPr lang="en-US" sz="1300" b="1" dirty="0">
                <a:solidFill>
                  <a:srgbClr val="F3F4F6"/>
                </a:solidFill>
                <a:latin typeface="Arial Black" pitchFamily="34" charset="0"/>
                <a:ea typeface="Arial Black" pitchFamily="34" charset="-122"/>
                <a:cs typeface="Arial Black" pitchFamily="34" charset="-120"/>
              </a:rPr>
              <a:t>Coach &amp; Track</a:t>
            </a:r>
            <a:endParaRPr lang="en-US" sz="1300" dirty="0"/>
          </a:p>
        </p:txBody>
      </p:sp>
      <p:sp>
        <p:nvSpPr>
          <p:cNvPr id="27" name="Text 22"/>
          <p:cNvSpPr/>
          <p:nvPr/>
        </p:nvSpPr>
        <p:spPr>
          <a:xfrm>
            <a:off x="4700016" y="3291840"/>
            <a:ext cx="1737360" cy="1280160"/>
          </a:xfrm>
          <a:prstGeom prst="rect">
            <a:avLst/>
          </a:prstGeom>
          <a:noFill/>
          <a:ln/>
        </p:spPr>
        <p:txBody>
          <a:bodyPr wrap="square" rtlCol="0" anchor="ctr"/>
          <a:lstStyle/>
          <a:p>
            <a:pPr marL="0" indent="0" algn="ctr">
              <a:lnSpc>
                <a:spcPct val="130000"/>
              </a:lnSpc>
              <a:buNone/>
            </a:pPr>
            <a:r>
              <a:rPr lang="en-US" sz="1050" dirty="0">
                <a:solidFill>
                  <a:srgbClr val="9CA3AF"/>
                </a:solidFill>
                <a:latin typeface="Arial" pitchFamily="34" charset="0"/>
                <a:ea typeface="Arial" pitchFamily="34" charset="-122"/>
                <a:cs typeface="Arial" pitchFamily="34" charset="-120"/>
              </a:rPr>
              <a:t>Clients log workouts, track milestones, and share progress. You see their data in real time.</a:t>
            </a:r>
            <a:endParaRPr lang="en-US" sz="1050" dirty="0"/>
          </a:p>
        </p:txBody>
      </p:sp>
      <p:sp>
        <p:nvSpPr>
          <p:cNvPr id="28" name="Shape 23"/>
          <p:cNvSpPr/>
          <p:nvPr/>
        </p:nvSpPr>
        <p:spPr>
          <a:xfrm>
            <a:off x="6528816" y="2944368"/>
            <a:ext cx="201168" cy="0"/>
          </a:xfrm>
          <a:prstGeom prst="line">
            <a:avLst/>
          </a:prstGeom>
          <a:noFill/>
          <a:ln w="25400">
            <a:solidFill>
              <a:srgbClr val="F97316"/>
            </a:solidFill>
            <a:prstDash val="solid"/>
          </a:ln>
        </p:spPr>
      </p:sp>
      <p:sp>
        <p:nvSpPr>
          <p:cNvPr id="29" name="Shape 24"/>
          <p:cNvSpPr/>
          <p:nvPr/>
        </p:nvSpPr>
        <p:spPr>
          <a:xfrm>
            <a:off x="6729984" y="1691640"/>
            <a:ext cx="1920240" cy="3017520"/>
          </a:xfrm>
          <a:prstGeom prst="rect">
            <a:avLst/>
          </a:prstGeom>
          <a:solidFill>
            <a:srgbClr val="1A2235"/>
          </a:solidFill>
          <a:ln w="12700">
            <a:solidFill>
              <a:srgbClr val="1F2A3A"/>
            </a:solidFill>
            <a:prstDash val="solid"/>
          </a:ln>
          <a:effectLst>
            <a:outerShdw blurRad="101600" dist="25400" dir="8100000" algn="bl" rotWithShape="0">
              <a:srgbClr val="000000">
                <a:alpha val="20000"/>
              </a:srgbClr>
            </a:outerShdw>
          </a:effectLst>
        </p:spPr>
      </p:sp>
      <p:sp>
        <p:nvSpPr>
          <p:cNvPr id="30" name="Shape 25"/>
          <p:cNvSpPr/>
          <p:nvPr/>
        </p:nvSpPr>
        <p:spPr>
          <a:xfrm>
            <a:off x="6729984" y="1691640"/>
            <a:ext cx="1920240" cy="502920"/>
          </a:xfrm>
          <a:prstGeom prst="rect">
            <a:avLst/>
          </a:prstGeom>
          <a:solidFill>
            <a:srgbClr val="16A34A"/>
          </a:solidFill>
          <a:ln/>
        </p:spPr>
      </p:sp>
      <p:sp>
        <p:nvSpPr>
          <p:cNvPr id="31" name="Text 26"/>
          <p:cNvSpPr/>
          <p:nvPr/>
        </p:nvSpPr>
        <p:spPr>
          <a:xfrm>
            <a:off x="6729984" y="1691640"/>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04</a:t>
            </a:r>
            <a:endParaRPr lang="en-US" sz="2200" dirty="0"/>
          </a:p>
        </p:txBody>
      </p:sp>
      <p:pic>
        <p:nvPicPr>
          <p:cNvPr id="32" name="Image 3" descr="preencoded.png"/>
          <p:cNvPicPr>
            <a:picLocks noChangeAspect="1"/>
          </p:cNvPicPr>
          <p:nvPr/>
        </p:nvPicPr>
        <p:blipFill>
          <a:blip r:embed="rId6"/>
          <a:stretch>
            <a:fillRect/>
          </a:stretch>
        </p:blipFill>
        <p:spPr>
          <a:xfrm>
            <a:off x="7443216" y="2331720"/>
            <a:ext cx="457200" cy="457200"/>
          </a:xfrm>
          <a:prstGeom prst="rect">
            <a:avLst/>
          </a:prstGeom>
        </p:spPr>
      </p:pic>
      <p:sp>
        <p:nvSpPr>
          <p:cNvPr id="33" name="Text 27"/>
          <p:cNvSpPr/>
          <p:nvPr/>
        </p:nvSpPr>
        <p:spPr>
          <a:xfrm>
            <a:off x="6821424" y="2880360"/>
            <a:ext cx="1737360" cy="411480"/>
          </a:xfrm>
          <a:prstGeom prst="rect">
            <a:avLst/>
          </a:prstGeom>
          <a:noFill/>
          <a:ln/>
        </p:spPr>
        <p:txBody>
          <a:bodyPr wrap="square" rtlCol="0" anchor="ctr"/>
          <a:lstStyle/>
          <a:p>
            <a:pPr marL="0" indent="0" algn="ctr">
              <a:buNone/>
            </a:pPr>
            <a:r>
              <a:rPr lang="en-US" sz="1300" b="1" dirty="0">
                <a:solidFill>
                  <a:srgbClr val="F3F4F6"/>
                </a:solidFill>
                <a:latin typeface="Arial Black" pitchFamily="34" charset="0"/>
                <a:ea typeface="Arial Black" pitchFamily="34" charset="-122"/>
                <a:cs typeface="Arial Black" pitchFamily="34" charset="-120"/>
              </a:rPr>
              <a:t>Get Paid</a:t>
            </a:r>
            <a:endParaRPr lang="en-US" sz="1300" dirty="0"/>
          </a:p>
        </p:txBody>
      </p:sp>
      <p:sp>
        <p:nvSpPr>
          <p:cNvPr id="34" name="Text 28"/>
          <p:cNvSpPr/>
          <p:nvPr/>
        </p:nvSpPr>
        <p:spPr>
          <a:xfrm>
            <a:off x="6821424" y="3291840"/>
            <a:ext cx="1737360" cy="1280160"/>
          </a:xfrm>
          <a:prstGeom prst="rect">
            <a:avLst/>
          </a:prstGeom>
          <a:noFill/>
          <a:ln/>
        </p:spPr>
        <p:txBody>
          <a:bodyPr wrap="square" rtlCol="0" anchor="ctr"/>
          <a:lstStyle/>
          <a:p>
            <a:pPr marL="0" indent="0" algn="ctr">
              <a:lnSpc>
                <a:spcPct val="130000"/>
              </a:lnSpc>
              <a:buNone/>
            </a:pPr>
            <a:r>
              <a:rPr lang="en-US" sz="1050" dirty="0">
                <a:solidFill>
                  <a:srgbClr val="9CA3AF"/>
                </a:solidFill>
                <a:latin typeface="Arial" pitchFamily="34" charset="0"/>
                <a:ea typeface="Arial" pitchFamily="34" charset="-122"/>
                <a:cs typeface="Arial" pitchFamily="34" charset="-120"/>
              </a:rPr>
              <a:t>Stripe Connect handles all payments. 70% goes directly to you. Payouts are automatic and transparent.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Shape 1"/>
          <p:cNvSpPr/>
          <p:nvPr/>
        </p:nvSpPr>
        <p:spPr>
          <a:xfrm>
            <a:off x="457200" y="347472"/>
            <a:ext cx="2011680" cy="256032"/>
          </a:xfrm>
          <a:prstGeom prst="rect">
            <a:avLst/>
          </a:prstGeom>
          <a:solidFill>
            <a:srgbClr val="F97316"/>
          </a:solidFill>
          <a:ln/>
        </p:spPr>
      </p:sp>
      <p:sp>
        <p:nvSpPr>
          <p:cNvPr id="4" name="Text 2"/>
          <p:cNvSpPr/>
          <p:nvPr/>
        </p:nvSpPr>
        <p:spPr>
          <a:xfrm>
            <a:off x="457200" y="347472"/>
            <a:ext cx="2011680" cy="256032"/>
          </a:xfrm>
          <a:prstGeom prst="rect">
            <a:avLst/>
          </a:prstGeom>
          <a:noFill/>
          <a:ln/>
        </p:spPr>
        <p:txBody>
          <a:bodyPr wrap="square" lIns="0" tIns="0" rIns="0" bIns="0" rtlCol="0" anchor="ctr"/>
          <a:lstStyle/>
          <a:p>
            <a:pPr marL="0" indent="0" algn="ctr">
              <a:buNone/>
            </a:pPr>
            <a:r>
              <a:rPr lang="en-US" sz="900" b="1" dirty="0">
                <a:solidFill>
                  <a:srgbClr val="FFFFFF"/>
                </a:solidFill>
              </a:rPr>
              <a:t>EARNINGS</a:t>
            </a:r>
            <a:endParaRPr lang="en-US" sz="900" dirty="0"/>
          </a:p>
        </p:txBody>
      </p:sp>
      <p:sp>
        <p:nvSpPr>
          <p:cNvPr id="5" name="Text 3"/>
          <p:cNvSpPr/>
          <p:nvPr/>
        </p:nvSpPr>
        <p:spPr>
          <a:xfrm>
            <a:off x="457200" y="658368"/>
            <a:ext cx="8229600" cy="566928"/>
          </a:xfrm>
          <a:prstGeom prst="rect">
            <a:avLst/>
          </a:prstGeom>
          <a:noFill/>
          <a:ln/>
        </p:spPr>
        <p:txBody>
          <a:bodyPr wrap="square" rtlCol="0" anchor="ctr">
            <a:spAutoFit/>
          </a:bodyPr>
          <a:lstStyle/>
          <a:p>
            <a:pPr marL="0" indent="0">
              <a:buNone/>
            </a:pPr>
            <a:r>
              <a:rPr lang="en-US" sz="2800" b="1" dirty="0">
                <a:solidFill>
                  <a:srgbClr val="F3F4F6"/>
                </a:solidFill>
                <a:latin typeface="Arial Black" pitchFamily="34" charset="0"/>
                <a:ea typeface="Arial Black" pitchFamily="34" charset="-122"/>
                <a:cs typeface="Arial Black" pitchFamily="34" charset="-120"/>
              </a:rPr>
              <a:t>What Can You Earn?</a:t>
            </a:r>
            <a:endParaRPr lang="en-US" sz="2800" dirty="0"/>
          </a:p>
        </p:txBody>
      </p:sp>
      <p:sp>
        <p:nvSpPr>
          <p:cNvPr id="6" name="Text 4"/>
          <p:cNvSpPr/>
          <p:nvPr/>
        </p:nvSpPr>
        <p:spPr>
          <a:xfrm>
            <a:off x="457200" y="1243584"/>
            <a:ext cx="8229600" cy="329184"/>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Based on a 70% revenue share model — you keep the majority.</a:t>
            </a:r>
            <a:endParaRPr lang="en-US" sz="13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5</a:t>
            </a:r>
            <a:endParaRPr lang="en-US" sz="900" dirty="0"/>
          </a:p>
        </p:txBody>
      </p:sp>
      <p:graphicFrame>
        <p:nvGraphicFramePr>
          <p:cNvPr id="8" name="Chart 0"/>
          <p:cNvGraphicFramePr/>
          <p:nvPr/>
        </p:nvGraphicFramePr>
        <p:xfrm>
          <a:off x="457200" y="169164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457200" y="4709160"/>
            <a:ext cx="5029200" cy="274320"/>
          </a:xfrm>
          <a:prstGeom prst="rect">
            <a:avLst/>
          </a:prstGeom>
          <a:noFill/>
          <a:ln/>
        </p:spPr>
        <p:txBody>
          <a:bodyPr wrap="square" rtlCol="0" anchor="ctr"/>
          <a:lstStyle/>
          <a:p>
            <a:pPr marL="0" indent="0">
              <a:buNone/>
            </a:pPr>
            <a:r>
              <a:rPr lang="en-US" sz="900" i="1" dirty="0">
                <a:solidFill>
                  <a:srgbClr val="6B7280"/>
                </a:solidFill>
                <a:latin typeface="Arial" pitchFamily="34" charset="0"/>
                <a:ea typeface="Arial" pitchFamily="34" charset="-122"/>
                <a:cs typeface="Arial" pitchFamily="34" charset="-120"/>
              </a:rPr>
              <a:t>* Based on $14/month Starter plan. Pro plan = higher earnings.</a:t>
            </a:r>
            <a:endParaRPr lang="en-US" sz="900" dirty="0"/>
          </a:p>
        </p:txBody>
      </p:sp>
      <p:sp>
        <p:nvSpPr>
          <p:cNvPr id="10" name="Shape 7"/>
          <p:cNvSpPr/>
          <p:nvPr/>
        </p:nvSpPr>
        <p:spPr>
          <a:xfrm>
            <a:off x="5669280" y="1691640"/>
            <a:ext cx="3200400" cy="685800"/>
          </a:xfrm>
          <a:prstGeom prst="rect">
            <a:avLst/>
          </a:prstGeom>
          <a:solidFill>
            <a:srgbClr val="1A2235"/>
          </a:solidFill>
          <a:ln w="12700">
            <a:solidFill>
              <a:srgbClr val="1F2A3A"/>
            </a:solidFill>
            <a:prstDash val="solid"/>
          </a:ln>
        </p:spPr>
      </p:sp>
      <p:sp>
        <p:nvSpPr>
          <p:cNvPr id="11" name="Shape 8"/>
          <p:cNvSpPr/>
          <p:nvPr/>
        </p:nvSpPr>
        <p:spPr>
          <a:xfrm>
            <a:off x="5669280" y="1691640"/>
            <a:ext cx="54864" cy="685800"/>
          </a:xfrm>
          <a:prstGeom prst="rect">
            <a:avLst/>
          </a:prstGeom>
          <a:solidFill>
            <a:srgbClr val="F97316"/>
          </a:solidFill>
          <a:ln/>
        </p:spPr>
      </p:sp>
      <p:pic>
        <p:nvPicPr>
          <p:cNvPr id="12" name="Image 0" descr="preencoded.png"/>
          <p:cNvPicPr>
            <a:picLocks noChangeAspect="1"/>
          </p:cNvPicPr>
          <p:nvPr/>
        </p:nvPicPr>
        <p:blipFill>
          <a:blip r:embed="rId4"/>
          <a:stretch>
            <a:fillRect/>
          </a:stretch>
        </p:blipFill>
        <p:spPr>
          <a:xfrm>
            <a:off x="5833872" y="1801368"/>
            <a:ext cx="320040" cy="320040"/>
          </a:xfrm>
          <a:prstGeom prst="rect">
            <a:avLst/>
          </a:prstGeom>
        </p:spPr>
      </p:pic>
      <p:sp>
        <p:nvSpPr>
          <p:cNvPr id="13" name="Text 9"/>
          <p:cNvSpPr/>
          <p:nvPr/>
        </p:nvSpPr>
        <p:spPr>
          <a:xfrm>
            <a:off x="6236208" y="1755648"/>
            <a:ext cx="2514600" cy="502920"/>
          </a:xfrm>
          <a:prstGeom prst="rect">
            <a:avLst/>
          </a:prstGeom>
          <a:noFill/>
          <a:ln/>
        </p:spPr>
        <p:txBody>
          <a:bodyPr wrap="square" rtlCol="0" anchor="ctr"/>
          <a:lstStyle/>
          <a:p>
            <a:pPr marL="0" indent="0">
              <a:lnSpc>
                <a:spcPct val="120000"/>
              </a:lnSpc>
              <a:buNone/>
            </a:pPr>
            <a:r>
              <a:rPr lang="en-US" sz="1100" dirty="0">
                <a:solidFill>
                  <a:srgbClr val="F3F4F6"/>
                </a:solidFill>
                <a:latin typeface="Arial" pitchFamily="34" charset="0"/>
                <a:ea typeface="Arial" pitchFamily="34" charset="-122"/>
                <a:cs typeface="Arial" pitchFamily="34" charset="-120"/>
              </a:rPr>
              <a:t>70% of every subscription goes directly to you</a:t>
            </a:r>
            <a:endParaRPr lang="en-US" sz="1100" dirty="0"/>
          </a:p>
        </p:txBody>
      </p:sp>
      <p:sp>
        <p:nvSpPr>
          <p:cNvPr id="14" name="Shape 10"/>
          <p:cNvSpPr/>
          <p:nvPr/>
        </p:nvSpPr>
        <p:spPr>
          <a:xfrm>
            <a:off x="5669280" y="2496312"/>
            <a:ext cx="3200400" cy="685800"/>
          </a:xfrm>
          <a:prstGeom prst="rect">
            <a:avLst/>
          </a:prstGeom>
          <a:solidFill>
            <a:srgbClr val="1A2235"/>
          </a:solidFill>
          <a:ln w="12700">
            <a:solidFill>
              <a:srgbClr val="1F2A3A"/>
            </a:solidFill>
            <a:prstDash val="solid"/>
          </a:ln>
        </p:spPr>
      </p:sp>
      <p:sp>
        <p:nvSpPr>
          <p:cNvPr id="15" name="Shape 11"/>
          <p:cNvSpPr/>
          <p:nvPr/>
        </p:nvSpPr>
        <p:spPr>
          <a:xfrm>
            <a:off x="5669280" y="2496312"/>
            <a:ext cx="54864" cy="685800"/>
          </a:xfrm>
          <a:prstGeom prst="rect">
            <a:avLst/>
          </a:prstGeom>
          <a:solidFill>
            <a:srgbClr val="22C55E"/>
          </a:solidFill>
          <a:ln/>
        </p:spPr>
      </p:sp>
      <p:pic>
        <p:nvPicPr>
          <p:cNvPr id="16" name="Image 1" descr="preencoded.png"/>
          <p:cNvPicPr>
            <a:picLocks noChangeAspect="1"/>
          </p:cNvPicPr>
          <p:nvPr/>
        </p:nvPicPr>
        <p:blipFill>
          <a:blip r:embed="rId5"/>
          <a:stretch>
            <a:fillRect/>
          </a:stretch>
        </p:blipFill>
        <p:spPr>
          <a:xfrm>
            <a:off x="5833872" y="2606040"/>
            <a:ext cx="320040" cy="320040"/>
          </a:xfrm>
          <a:prstGeom prst="rect">
            <a:avLst/>
          </a:prstGeom>
        </p:spPr>
      </p:pic>
      <p:sp>
        <p:nvSpPr>
          <p:cNvPr id="17" name="Text 12"/>
          <p:cNvSpPr/>
          <p:nvPr/>
        </p:nvSpPr>
        <p:spPr>
          <a:xfrm>
            <a:off x="6236208" y="2560320"/>
            <a:ext cx="2514600" cy="502920"/>
          </a:xfrm>
          <a:prstGeom prst="rect">
            <a:avLst/>
          </a:prstGeom>
          <a:noFill/>
          <a:ln/>
        </p:spPr>
        <p:txBody>
          <a:bodyPr wrap="square" rtlCol="0" anchor="ctr"/>
          <a:lstStyle/>
          <a:p>
            <a:pPr marL="0" indent="0">
              <a:lnSpc>
                <a:spcPct val="120000"/>
              </a:lnSpc>
              <a:buNone/>
            </a:pPr>
            <a:r>
              <a:rPr lang="en-US" sz="1100" dirty="0">
                <a:solidFill>
                  <a:srgbClr val="F3F4F6"/>
                </a:solidFill>
                <a:latin typeface="Arial" pitchFamily="34" charset="0"/>
                <a:ea typeface="Arial" pitchFamily="34" charset="-122"/>
                <a:cs typeface="Arial" pitchFamily="34" charset="-120"/>
              </a:rPr>
              <a:t>Monthly recurring revenue — predictable income</a:t>
            </a:r>
            <a:endParaRPr lang="en-US" sz="1100" dirty="0"/>
          </a:p>
        </p:txBody>
      </p:sp>
      <p:sp>
        <p:nvSpPr>
          <p:cNvPr id="18" name="Shape 13"/>
          <p:cNvSpPr/>
          <p:nvPr/>
        </p:nvSpPr>
        <p:spPr>
          <a:xfrm>
            <a:off x="5669280" y="3300984"/>
            <a:ext cx="3200400" cy="685800"/>
          </a:xfrm>
          <a:prstGeom prst="rect">
            <a:avLst/>
          </a:prstGeom>
          <a:solidFill>
            <a:srgbClr val="1A2235"/>
          </a:solidFill>
          <a:ln w="12700">
            <a:solidFill>
              <a:srgbClr val="1F2A3A"/>
            </a:solidFill>
            <a:prstDash val="solid"/>
          </a:ln>
        </p:spPr>
      </p:sp>
      <p:sp>
        <p:nvSpPr>
          <p:cNvPr id="19" name="Shape 14"/>
          <p:cNvSpPr/>
          <p:nvPr/>
        </p:nvSpPr>
        <p:spPr>
          <a:xfrm>
            <a:off x="5669280" y="3300984"/>
            <a:ext cx="54864" cy="685800"/>
          </a:xfrm>
          <a:prstGeom prst="rect">
            <a:avLst/>
          </a:prstGeom>
          <a:solidFill>
            <a:srgbClr val="F97316"/>
          </a:solidFill>
          <a:ln/>
        </p:spPr>
      </p:sp>
      <p:pic>
        <p:nvPicPr>
          <p:cNvPr id="20" name="Image 2" descr="preencoded.png"/>
          <p:cNvPicPr>
            <a:picLocks noChangeAspect="1"/>
          </p:cNvPicPr>
          <p:nvPr/>
        </p:nvPicPr>
        <p:blipFill>
          <a:blip r:embed="rId6"/>
          <a:stretch>
            <a:fillRect/>
          </a:stretch>
        </p:blipFill>
        <p:spPr>
          <a:xfrm>
            <a:off x="5833872" y="3410712"/>
            <a:ext cx="320040" cy="320040"/>
          </a:xfrm>
          <a:prstGeom prst="rect">
            <a:avLst/>
          </a:prstGeom>
        </p:spPr>
      </p:pic>
      <p:sp>
        <p:nvSpPr>
          <p:cNvPr id="21" name="Text 15"/>
          <p:cNvSpPr/>
          <p:nvPr/>
        </p:nvSpPr>
        <p:spPr>
          <a:xfrm>
            <a:off x="6236208" y="3364992"/>
            <a:ext cx="2514600" cy="502920"/>
          </a:xfrm>
          <a:prstGeom prst="rect">
            <a:avLst/>
          </a:prstGeom>
          <a:noFill/>
          <a:ln/>
        </p:spPr>
        <p:txBody>
          <a:bodyPr wrap="square" rtlCol="0" anchor="ctr"/>
          <a:lstStyle/>
          <a:p>
            <a:pPr marL="0" indent="0">
              <a:lnSpc>
                <a:spcPct val="120000"/>
              </a:lnSpc>
              <a:buNone/>
            </a:pPr>
            <a:r>
              <a:rPr lang="en-US" sz="1100" dirty="0">
                <a:solidFill>
                  <a:srgbClr val="F3F4F6"/>
                </a:solidFill>
                <a:latin typeface="Arial" pitchFamily="34" charset="0"/>
                <a:ea typeface="Arial" pitchFamily="34" charset="-122"/>
                <a:cs typeface="Arial" pitchFamily="34" charset="-120"/>
              </a:rPr>
              <a:t>Stripe Connect — automatic, transparent payouts</a:t>
            </a:r>
            <a:endParaRPr lang="en-US" sz="1100" dirty="0"/>
          </a:p>
        </p:txBody>
      </p:sp>
      <p:sp>
        <p:nvSpPr>
          <p:cNvPr id="22" name="Shape 16"/>
          <p:cNvSpPr/>
          <p:nvPr/>
        </p:nvSpPr>
        <p:spPr>
          <a:xfrm>
            <a:off x="5669280" y="4105656"/>
            <a:ext cx="3200400" cy="685800"/>
          </a:xfrm>
          <a:prstGeom prst="rect">
            <a:avLst/>
          </a:prstGeom>
          <a:solidFill>
            <a:srgbClr val="1A2235"/>
          </a:solidFill>
          <a:ln w="12700">
            <a:solidFill>
              <a:srgbClr val="1F2A3A"/>
            </a:solidFill>
            <a:prstDash val="solid"/>
          </a:ln>
        </p:spPr>
      </p:sp>
      <p:sp>
        <p:nvSpPr>
          <p:cNvPr id="23" name="Shape 17"/>
          <p:cNvSpPr/>
          <p:nvPr/>
        </p:nvSpPr>
        <p:spPr>
          <a:xfrm>
            <a:off x="5669280" y="4105656"/>
            <a:ext cx="54864" cy="685800"/>
          </a:xfrm>
          <a:prstGeom prst="rect">
            <a:avLst/>
          </a:prstGeom>
          <a:solidFill>
            <a:srgbClr val="22C55E"/>
          </a:solidFill>
          <a:ln/>
        </p:spPr>
      </p:sp>
      <p:pic>
        <p:nvPicPr>
          <p:cNvPr id="24" name="Image 3" descr="preencoded.png"/>
          <p:cNvPicPr>
            <a:picLocks noChangeAspect="1"/>
          </p:cNvPicPr>
          <p:nvPr/>
        </p:nvPicPr>
        <p:blipFill>
          <a:blip r:embed="rId7"/>
          <a:stretch>
            <a:fillRect/>
          </a:stretch>
        </p:blipFill>
        <p:spPr>
          <a:xfrm>
            <a:off x="5833872" y="4215384"/>
            <a:ext cx="320040" cy="320040"/>
          </a:xfrm>
          <a:prstGeom prst="rect">
            <a:avLst/>
          </a:prstGeom>
        </p:spPr>
      </p:pic>
      <p:sp>
        <p:nvSpPr>
          <p:cNvPr id="25" name="Text 18"/>
          <p:cNvSpPr/>
          <p:nvPr/>
        </p:nvSpPr>
        <p:spPr>
          <a:xfrm>
            <a:off x="6236208" y="4169664"/>
            <a:ext cx="2514600" cy="502920"/>
          </a:xfrm>
          <a:prstGeom prst="rect">
            <a:avLst/>
          </a:prstGeom>
          <a:noFill/>
          <a:ln/>
        </p:spPr>
        <p:txBody>
          <a:bodyPr wrap="square" rtlCol="0" anchor="ctr"/>
          <a:lstStyle/>
          <a:p>
            <a:pPr marL="0" indent="0">
              <a:lnSpc>
                <a:spcPct val="120000"/>
              </a:lnSpc>
              <a:buNone/>
            </a:pPr>
            <a:r>
              <a:rPr lang="en-US" sz="1100" dirty="0">
                <a:solidFill>
                  <a:srgbClr val="F3F4F6"/>
                </a:solidFill>
                <a:latin typeface="Arial" pitchFamily="34" charset="0"/>
                <a:ea typeface="Arial" pitchFamily="34" charset="-122"/>
                <a:cs typeface="Arial" pitchFamily="34" charset="-120"/>
              </a:rPr>
              <a:t>Founding coaches get priority placement in search</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Shape 1"/>
          <p:cNvSpPr/>
          <p:nvPr/>
        </p:nvSpPr>
        <p:spPr>
          <a:xfrm>
            <a:off x="457200" y="347472"/>
            <a:ext cx="2011680" cy="256032"/>
          </a:xfrm>
          <a:prstGeom prst="rect">
            <a:avLst/>
          </a:prstGeom>
          <a:solidFill>
            <a:srgbClr val="F97316"/>
          </a:solidFill>
          <a:ln/>
        </p:spPr>
      </p:sp>
      <p:sp>
        <p:nvSpPr>
          <p:cNvPr id="4" name="Text 2"/>
          <p:cNvSpPr/>
          <p:nvPr/>
        </p:nvSpPr>
        <p:spPr>
          <a:xfrm>
            <a:off x="457200" y="347472"/>
            <a:ext cx="2011680" cy="256032"/>
          </a:xfrm>
          <a:prstGeom prst="rect">
            <a:avLst/>
          </a:prstGeom>
          <a:noFill/>
          <a:ln/>
        </p:spPr>
        <p:txBody>
          <a:bodyPr wrap="square" lIns="0" tIns="0" rIns="0" bIns="0" rtlCol="0" anchor="ctr"/>
          <a:lstStyle/>
          <a:p>
            <a:pPr marL="0" indent="0" algn="ctr">
              <a:buNone/>
            </a:pPr>
            <a:r>
              <a:rPr lang="en-US" sz="900" b="1" dirty="0">
                <a:solidFill>
                  <a:srgbClr val="FFFFFF"/>
                </a:solidFill>
              </a:rPr>
              <a:t>WHY NOW</a:t>
            </a:r>
            <a:endParaRPr lang="en-US" sz="900" dirty="0"/>
          </a:p>
        </p:txBody>
      </p:sp>
      <p:sp>
        <p:nvSpPr>
          <p:cNvPr id="5" name="Text 3"/>
          <p:cNvSpPr/>
          <p:nvPr/>
        </p:nvSpPr>
        <p:spPr>
          <a:xfrm>
            <a:off x="457200" y="658368"/>
            <a:ext cx="8229600" cy="566928"/>
          </a:xfrm>
          <a:prstGeom prst="rect">
            <a:avLst/>
          </a:prstGeom>
          <a:noFill/>
          <a:ln/>
        </p:spPr>
        <p:txBody>
          <a:bodyPr wrap="square" rtlCol="0" anchor="ctr">
            <a:spAutoFit/>
          </a:bodyPr>
          <a:lstStyle/>
          <a:p>
            <a:pPr marL="0" indent="0">
              <a:buNone/>
            </a:pPr>
            <a:r>
              <a:rPr lang="en-US" sz="2800" b="1" dirty="0">
                <a:solidFill>
                  <a:srgbClr val="F3F4F6"/>
                </a:solidFill>
                <a:latin typeface="Arial Black" pitchFamily="34" charset="0"/>
                <a:ea typeface="Arial Black" pitchFamily="34" charset="-122"/>
                <a:cs typeface="Arial Black" pitchFamily="34" charset="-120"/>
              </a:rPr>
              <a:t>Founding Coach Advantages.</a:t>
            </a:r>
            <a:endParaRPr lang="en-US" sz="2800" dirty="0"/>
          </a:p>
        </p:txBody>
      </p:sp>
      <p:sp>
        <p:nvSpPr>
          <p:cNvPr id="6" name="Text 4"/>
          <p:cNvSpPr/>
          <p:nvPr/>
        </p:nvSpPr>
        <p:spPr>
          <a:xfrm>
            <a:off x="457200" y="1243584"/>
            <a:ext cx="8229600" cy="329184"/>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Early movers get benefits that will never be available again.</a:t>
            </a:r>
            <a:endParaRPr lang="en-US" sz="13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6</a:t>
            </a:r>
            <a:endParaRPr lang="en-US" sz="900" dirty="0"/>
          </a:p>
        </p:txBody>
      </p:sp>
      <p:sp>
        <p:nvSpPr>
          <p:cNvPr id="8" name="Shape 6"/>
          <p:cNvSpPr/>
          <p:nvPr/>
        </p:nvSpPr>
        <p:spPr>
          <a:xfrm>
            <a:off x="457200" y="1691640"/>
            <a:ext cx="2651760" cy="1298448"/>
          </a:xfrm>
          <a:prstGeom prst="rect">
            <a:avLst/>
          </a:prstGeom>
          <a:solidFill>
            <a:srgbClr val="1A2235"/>
          </a:solidFill>
          <a:ln w="12700">
            <a:solidFill>
              <a:srgbClr val="1F2A3A"/>
            </a:solidFill>
            <a:prstDash val="solid"/>
          </a:ln>
        </p:spPr>
      </p:sp>
      <p:sp>
        <p:nvSpPr>
          <p:cNvPr id="9" name="Shape 7"/>
          <p:cNvSpPr/>
          <p:nvPr/>
        </p:nvSpPr>
        <p:spPr>
          <a:xfrm>
            <a:off x="457200" y="1691640"/>
            <a:ext cx="54864" cy="1298448"/>
          </a:xfrm>
          <a:prstGeom prst="rect">
            <a:avLst/>
          </a:prstGeom>
          <a:solidFill>
            <a:srgbClr val="F97316"/>
          </a:solidFill>
          <a:ln/>
        </p:spPr>
      </p:sp>
      <p:pic>
        <p:nvPicPr>
          <p:cNvPr id="10" name="Image 0" descr="preencoded.png"/>
          <p:cNvPicPr>
            <a:picLocks noChangeAspect="1"/>
          </p:cNvPicPr>
          <p:nvPr/>
        </p:nvPicPr>
        <p:blipFill>
          <a:blip r:embed="rId3"/>
          <a:stretch>
            <a:fillRect/>
          </a:stretch>
        </p:blipFill>
        <p:spPr>
          <a:xfrm>
            <a:off x="594360" y="1801368"/>
            <a:ext cx="365760" cy="365760"/>
          </a:xfrm>
          <a:prstGeom prst="rect">
            <a:avLst/>
          </a:prstGeom>
        </p:spPr>
      </p:pic>
      <p:sp>
        <p:nvSpPr>
          <p:cNvPr id="11" name="Text 8"/>
          <p:cNvSpPr/>
          <p:nvPr/>
        </p:nvSpPr>
        <p:spPr>
          <a:xfrm>
            <a:off x="1051560" y="1783080"/>
            <a:ext cx="1965960" cy="347472"/>
          </a:xfrm>
          <a:prstGeom prst="rect">
            <a:avLst/>
          </a:prstGeom>
          <a:noFill/>
          <a:ln/>
        </p:spPr>
        <p:txBody>
          <a:bodyPr wrap="square" rtlCol="0" anchor="ctr"/>
          <a:lstStyle/>
          <a:p>
            <a:pPr marL="0" indent="0">
              <a:buNone/>
            </a:pPr>
            <a:r>
              <a:rPr lang="en-US" sz="1200" b="1" dirty="0">
                <a:solidFill>
                  <a:srgbClr val="F3F4F6"/>
                </a:solidFill>
                <a:latin typeface="Arial Black" pitchFamily="34" charset="0"/>
                <a:ea typeface="Arial Black" pitchFamily="34" charset="-122"/>
                <a:cs typeface="Arial Black" pitchFamily="34" charset="-120"/>
              </a:rPr>
              <a:t>Priority Placement</a:t>
            </a:r>
            <a:endParaRPr lang="en-US" sz="1200" dirty="0"/>
          </a:p>
        </p:txBody>
      </p:sp>
      <p:sp>
        <p:nvSpPr>
          <p:cNvPr id="12" name="Text 9"/>
          <p:cNvSpPr/>
          <p:nvPr/>
        </p:nvSpPr>
        <p:spPr>
          <a:xfrm>
            <a:off x="566928" y="2221992"/>
            <a:ext cx="2468880" cy="685800"/>
          </a:xfrm>
          <a:prstGeom prst="rect">
            <a:avLst/>
          </a:prstGeom>
          <a:noFill/>
          <a:ln/>
        </p:spPr>
        <p:txBody>
          <a:bodyPr wrap="square" rtlCol="0" anchor="ctr"/>
          <a:lstStyle/>
          <a:p>
            <a:pPr marL="0" indent="0">
              <a:lnSpc>
                <a:spcPct val="125000"/>
              </a:lnSpc>
              <a:buNone/>
            </a:pPr>
            <a:r>
              <a:rPr lang="en-US" sz="1050" dirty="0">
                <a:solidFill>
                  <a:srgbClr val="9CA3AF"/>
                </a:solidFill>
                <a:latin typeface="Arial" pitchFamily="34" charset="0"/>
                <a:ea typeface="Arial" pitchFamily="34" charset="-122"/>
                <a:cs typeface="Arial" pitchFamily="34" charset="-120"/>
              </a:rPr>
              <a:t>Founding coaches rank first in client search results — permanently.</a:t>
            </a:r>
            <a:endParaRPr lang="en-US" sz="1050" dirty="0"/>
          </a:p>
        </p:txBody>
      </p:sp>
      <p:sp>
        <p:nvSpPr>
          <p:cNvPr id="13" name="Shape 10"/>
          <p:cNvSpPr/>
          <p:nvPr/>
        </p:nvSpPr>
        <p:spPr>
          <a:xfrm>
            <a:off x="3355848" y="1691640"/>
            <a:ext cx="2651760" cy="1298448"/>
          </a:xfrm>
          <a:prstGeom prst="rect">
            <a:avLst/>
          </a:prstGeom>
          <a:solidFill>
            <a:srgbClr val="1A2235"/>
          </a:solidFill>
          <a:ln w="12700">
            <a:solidFill>
              <a:srgbClr val="1F2A3A"/>
            </a:solidFill>
            <a:prstDash val="solid"/>
          </a:ln>
        </p:spPr>
      </p:sp>
      <p:sp>
        <p:nvSpPr>
          <p:cNvPr id="14" name="Shape 11"/>
          <p:cNvSpPr/>
          <p:nvPr/>
        </p:nvSpPr>
        <p:spPr>
          <a:xfrm>
            <a:off x="3355848" y="1691640"/>
            <a:ext cx="54864" cy="1298448"/>
          </a:xfrm>
          <a:prstGeom prst="rect">
            <a:avLst/>
          </a:prstGeom>
          <a:solidFill>
            <a:srgbClr val="22C55E"/>
          </a:solidFill>
          <a:ln/>
        </p:spPr>
      </p:sp>
      <p:pic>
        <p:nvPicPr>
          <p:cNvPr id="15" name="Image 1" descr="preencoded.png"/>
          <p:cNvPicPr>
            <a:picLocks noChangeAspect="1"/>
          </p:cNvPicPr>
          <p:nvPr/>
        </p:nvPicPr>
        <p:blipFill>
          <a:blip r:embed="rId4"/>
          <a:stretch>
            <a:fillRect/>
          </a:stretch>
        </p:blipFill>
        <p:spPr>
          <a:xfrm>
            <a:off x="3493008" y="1801368"/>
            <a:ext cx="365760" cy="365760"/>
          </a:xfrm>
          <a:prstGeom prst="rect">
            <a:avLst/>
          </a:prstGeom>
        </p:spPr>
      </p:pic>
      <p:sp>
        <p:nvSpPr>
          <p:cNvPr id="16" name="Text 12"/>
          <p:cNvSpPr/>
          <p:nvPr/>
        </p:nvSpPr>
        <p:spPr>
          <a:xfrm>
            <a:off x="3950208" y="1783080"/>
            <a:ext cx="1965960" cy="347472"/>
          </a:xfrm>
          <a:prstGeom prst="rect">
            <a:avLst/>
          </a:prstGeom>
          <a:noFill/>
          <a:ln/>
        </p:spPr>
        <p:txBody>
          <a:bodyPr wrap="square" rtlCol="0" anchor="ctr"/>
          <a:lstStyle/>
          <a:p>
            <a:pPr marL="0" indent="0">
              <a:buNone/>
            </a:pPr>
            <a:r>
              <a:rPr lang="en-US" sz="1200" b="1" dirty="0">
                <a:solidFill>
                  <a:srgbClr val="F3F4F6"/>
                </a:solidFill>
                <a:latin typeface="Arial Black" pitchFamily="34" charset="0"/>
                <a:ea typeface="Arial Black" pitchFamily="34" charset="-122"/>
                <a:cs typeface="Arial Black" pitchFamily="34" charset="-120"/>
              </a:rPr>
              <a:t>Founding Badge</a:t>
            </a:r>
            <a:endParaRPr lang="en-US" sz="1200" dirty="0"/>
          </a:p>
        </p:txBody>
      </p:sp>
      <p:sp>
        <p:nvSpPr>
          <p:cNvPr id="17" name="Text 13"/>
          <p:cNvSpPr/>
          <p:nvPr/>
        </p:nvSpPr>
        <p:spPr>
          <a:xfrm>
            <a:off x="3465576" y="2221992"/>
            <a:ext cx="2468880" cy="685800"/>
          </a:xfrm>
          <a:prstGeom prst="rect">
            <a:avLst/>
          </a:prstGeom>
          <a:noFill/>
          <a:ln/>
        </p:spPr>
        <p:txBody>
          <a:bodyPr wrap="square" rtlCol="0" anchor="ctr"/>
          <a:lstStyle/>
          <a:p>
            <a:pPr marL="0" indent="0">
              <a:lnSpc>
                <a:spcPct val="125000"/>
              </a:lnSpc>
              <a:buNone/>
            </a:pPr>
            <a:r>
              <a:rPr lang="en-US" sz="1050" dirty="0">
                <a:solidFill>
                  <a:srgbClr val="9CA3AF"/>
                </a:solidFill>
                <a:latin typeface="Arial" pitchFamily="34" charset="0"/>
                <a:ea typeface="Arial" pitchFamily="34" charset="-122"/>
                <a:cs typeface="Arial" pitchFamily="34" charset="-120"/>
              </a:rPr>
              <a:t>A permanent 'Founding Coach' badge on your profile builds instant credibility.</a:t>
            </a:r>
            <a:endParaRPr lang="en-US" sz="1050" dirty="0"/>
          </a:p>
        </p:txBody>
      </p:sp>
      <p:sp>
        <p:nvSpPr>
          <p:cNvPr id="18" name="Shape 14"/>
          <p:cNvSpPr/>
          <p:nvPr/>
        </p:nvSpPr>
        <p:spPr>
          <a:xfrm>
            <a:off x="6254496" y="1691640"/>
            <a:ext cx="2651760" cy="1298448"/>
          </a:xfrm>
          <a:prstGeom prst="rect">
            <a:avLst/>
          </a:prstGeom>
          <a:solidFill>
            <a:srgbClr val="1A2235"/>
          </a:solidFill>
          <a:ln w="12700">
            <a:solidFill>
              <a:srgbClr val="1F2A3A"/>
            </a:solidFill>
            <a:prstDash val="solid"/>
          </a:ln>
        </p:spPr>
      </p:sp>
      <p:sp>
        <p:nvSpPr>
          <p:cNvPr id="19" name="Shape 15"/>
          <p:cNvSpPr/>
          <p:nvPr/>
        </p:nvSpPr>
        <p:spPr>
          <a:xfrm>
            <a:off x="6254496" y="1691640"/>
            <a:ext cx="54864" cy="1298448"/>
          </a:xfrm>
          <a:prstGeom prst="rect">
            <a:avLst/>
          </a:prstGeom>
          <a:solidFill>
            <a:srgbClr val="F97316"/>
          </a:solidFill>
          <a:ln/>
        </p:spPr>
      </p:sp>
      <p:pic>
        <p:nvPicPr>
          <p:cNvPr id="20" name="Image 2" descr="preencoded.png"/>
          <p:cNvPicPr>
            <a:picLocks noChangeAspect="1"/>
          </p:cNvPicPr>
          <p:nvPr/>
        </p:nvPicPr>
        <p:blipFill>
          <a:blip r:embed="rId5"/>
          <a:stretch>
            <a:fillRect/>
          </a:stretch>
        </p:blipFill>
        <p:spPr>
          <a:xfrm>
            <a:off x="6391656" y="1801368"/>
            <a:ext cx="365760" cy="365760"/>
          </a:xfrm>
          <a:prstGeom prst="rect">
            <a:avLst/>
          </a:prstGeom>
        </p:spPr>
      </p:pic>
      <p:sp>
        <p:nvSpPr>
          <p:cNvPr id="21" name="Text 16"/>
          <p:cNvSpPr/>
          <p:nvPr/>
        </p:nvSpPr>
        <p:spPr>
          <a:xfrm>
            <a:off x="6848856" y="1783080"/>
            <a:ext cx="1965960" cy="347472"/>
          </a:xfrm>
          <a:prstGeom prst="rect">
            <a:avLst/>
          </a:prstGeom>
          <a:noFill/>
          <a:ln/>
        </p:spPr>
        <p:txBody>
          <a:bodyPr wrap="square" rtlCol="0" anchor="ctr"/>
          <a:lstStyle/>
          <a:p>
            <a:pPr marL="0" indent="0">
              <a:buNone/>
            </a:pPr>
            <a:r>
              <a:rPr lang="en-US" sz="1200" b="1" dirty="0">
                <a:solidFill>
                  <a:srgbClr val="F3F4F6"/>
                </a:solidFill>
                <a:latin typeface="Arial Black" pitchFamily="34" charset="0"/>
                <a:ea typeface="Arial Black" pitchFamily="34" charset="-122"/>
                <a:cs typeface="Arial Black" pitchFamily="34" charset="-120"/>
              </a:rPr>
              <a:t>Shape the Platform</a:t>
            </a:r>
            <a:endParaRPr lang="en-US" sz="1200" dirty="0"/>
          </a:p>
        </p:txBody>
      </p:sp>
      <p:sp>
        <p:nvSpPr>
          <p:cNvPr id="22" name="Text 17"/>
          <p:cNvSpPr/>
          <p:nvPr/>
        </p:nvSpPr>
        <p:spPr>
          <a:xfrm>
            <a:off x="6364224" y="2221992"/>
            <a:ext cx="2468880" cy="685800"/>
          </a:xfrm>
          <a:prstGeom prst="rect">
            <a:avLst/>
          </a:prstGeom>
          <a:noFill/>
          <a:ln/>
        </p:spPr>
        <p:txBody>
          <a:bodyPr wrap="square" rtlCol="0" anchor="ctr"/>
          <a:lstStyle/>
          <a:p>
            <a:pPr marL="0" indent="0">
              <a:lnSpc>
                <a:spcPct val="125000"/>
              </a:lnSpc>
              <a:buNone/>
            </a:pPr>
            <a:r>
              <a:rPr lang="en-US" sz="1050" dirty="0">
                <a:solidFill>
                  <a:srgbClr val="9CA3AF"/>
                </a:solidFill>
                <a:latin typeface="Arial" pitchFamily="34" charset="0"/>
                <a:ea typeface="Arial" pitchFamily="34" charset="-122"/>
                <a:cs typeface="Arial" pitchFamily="34" charset="-120"/>
              </a:rPr>
              <a:t>Direct input into features, pricing, and roadmap. Your feedback builds what you need.</a:t>
            </a:r>
            <a:endParaRPr lang="en-US" sz="1050" dirty="0"/>
          </a:p>
        </p:txBody>
      </p:sp>
      <p:sp>
        <p:nvSpPr>
          <p:cNvPr id="23" name="Shape 18"/>
          <p:cNvSpPr/>
          <p:nvPr/>
        </p:nvSpPr>
        <p:spPr>
          <a:xfrm>
            <a:off x="457200" y="3154680"/>
            <a:ext cx="2651760" cy="1298448"/>
          </a:xfrm>
          <a:prstGeom prst="rect">
            <a:avLst/>
          </a:prstGeom>
          <a:solidFill>
            <a:srgbClr val="1A2235"/>
          </a:solidFill>
          <a:ln w="12700">
            <a:solidFill>
              <a:srgbClr val="1F2A3A"/>
            </a:solidFill>
            <a:prstDash val="solid"/>
          </a:ln>
        </p:spPr>
      </p:sp>
      <p:sp>
        <p:nvSpPr>
          <p:cNvPr id="24" name="Shape 19"/>
          <p:cNvSpPr/>
          <p:nvPr/>
        </p:nvSpPr>
        <p:spPr>
          <a:xfrm>
            <a:off x="457200" y="3154680"/>
            <a:ext cx="54864" cy="1298448"/>
          </a:xfrm>
          <a:prstGeom prst="rect">
            <a:avLst/>
          </a:prstGeom>
          <a:solidFill>
            <a:srgbClr val="F97316"/>
          </a:solidFill>
          <a:ln/>
        </p:spPr>
      </p:sp>
      <p:pic>
        <p:nvPicPr>
          <p:cNvPr id="25" name="Image 3" descr="preencoded.png"/>
          <p:cNvPicPr>
            <a:picLocks noChangeAspect="1"/>
          </p:cNvPicPr>
          <p:nvPr/>
        </p:nvPicPr>
        <p:blipFill>
          <a:blip r:embed="rId6"/>
          <a:stretch>
            <a:fillRect/>
          </a:stretch>
        </p:blipFill>
        <p:spPr>
          <a:xfrm>
            <a:off x="594360" y="3264408"/>
            <a:ext cx="365760" cy="365760"/>
          </a:xfrm>
          <a:prstGeom prst="rect">
            <a:avLst/>
          </a:prstGeom>
        </p:spPr>
      </p:pic>
      <p:sp>
        <p:nvSpPr>
          <p:cNvPr id="26" name="Text 20"/>
          <p:cNvSpPr/>
          <p:nvPr/>
        </p:nvSpPr>
        <p:spPr>
          <a:xfrm>
            <a:off x="1051560" y="3246120"/>
            <a:ext cx="1965960" cy="347472"/>
          </a:xfrm>
          <a:prstGeom prst="rect">
            <a:avLst/>
          </a:prstGeom>
          <a:noFill/>
          <a:ln/>
        </p:spPr>
        <p:txBody>
          <a:bodyPr wrap="square" rtlCol="0" anchor="ctr"/>
          <a:lstStyle/>
          <a:p>
            <a:pPr marL="0" indent="0">
              <a:buNone/>
            </a:pPr>
            <a:r>
              <a:rPr lang="en-US" sz="1200" b="1" dirty="0">
                <a:solidFill>
                  <a:srgbClr val="F3F4F6"/>
                </a:solidFill>
                <a:latin typeface="Arial Black" pitchFamily="34" charset="0"/>
                <a:ea typeface="Arial Black" pitchFamily="34" charset="-122"/>
                <a:cs typeface="Arial Black" pitchFamily="34" charset="-120"/>
              </a:rPr>
              <a:t>Zero Competition Now</a:t>
            </a:r>
            <a:endParaRPr lang="en-US" sz="1200" dirty="0"/>
          </a:p>
        </p:txBody>
      </p:sp>
      <p:sp>
        <p:nvSpPr>
          <p:cNvPr id="27" name="Text 21"/>
          <p:cNvSpPr/>
          <p:nvPr/>
        </p:nvSpPr>
        <p:spPr>
          <a:xfrm>
            <a:off x="566928" y="3685032"/>
            <a:ext cx="2468880" cy="685800"/>
          </a:xfrm>
          <a:prstGeom prst="rect">
            <a:avLst/>
          </a:prstGeom>
          <a:noFill/>
          <a:ln/>
        </p:spPr>
        <p:txBody>
          <a:bodyPr wrap="square" rtlCol="0" anchor="ctr"/>
          <a:lstStyle/>
          <a:p>
            <a:pPr marL="0" indent="0">
              <a:lnSpc>
                <a:spcPct val="125000"/>
              </a:lnSpc>
              <a:buNone/>
            </a:pPr>
            <a:r>
              <a:rPr lang="en-US" sz="1050" dirty="0">
                <a:solidFill>
                  <a:srgbClr val="9CA3AF"/>
                </a:solidFill>
                <a:latin typeface="Arial" pitchFamily="34" charset="0"/>
                <a:ea typeface="Arial" pitchFamily="34" charset="-122"/>
                <a:cs typeface="Arial" pitchFamily="34" charset="-120"/>
              </a:rPr>
              <a:t>Be one of the first coaches on the platform before the marketplace fills up.</a:t>
            </a:r>
            <a:endParaRPr lang="en-US" sz="1050" dirty="0"/>
          </a:p>
        </p:txBody>
      </p:sp>
      <p:sp>
        <p:nvSpPr>
          <p:cNvPr id="28" name="Shape 22"/>
          <p:cNvSpPr/>
          <p:nvPr/>
        </p:nvSpPr>
        <p:spPr>
          <a:xfrm>
            <a:off x="3355848" y="3154680"/>
            <a:ext cx="2651760" cy="1298448"/>
          </a:xfrm>
          <a:prstGeom prst="rect">
            <a:avLst/>
          </a:prstGeom>
          <a:solidFill>
            <a:srgbClr val="1A2235"/>
          </a:solidFill>
          <a:ln w="12700">
            <a:solidFill>
              <a:srgbClr val="1F2A3A"/>
            </a:solidFill>
            <a:prstDash val="solid"/>
          </a:ln>
        </p:spPr>
      </p:sp>
      <p:sp>
        <p:nvSpPr>
          <p:cNvPr id="29" name="Shape 23"/>
          <p:cNvSpPr/>
          <p:nvPr/>
        </p:nvSpPr>
        <p:spPr>
          <a:xfrm>
            <a:off x="3355848" y="3154680"/>
            <a:ext cx="54864" cy="1298448"/>
          </a:xfrm>
          <a:prstGeom prst="rect">
            <a:avLst/>
          </a:prstGeom>
          <a:solidFill>
            <a:srgbClr val="22C55E"/>
          </a:solidFill>
          <a:ln/>
        </p:spPr>
      </p:sp>
      <p:pic>
        <p:nvPicPr>
          <p:cNvPr id="30" name="Image 4" descr="preencoded.png"/>
          <p:cNvPicPr>
            <a:picLocks noChangeAspect="1"/>
          </p:cNvPicPr>
          <p:nvPr/>
        </p:nvPicPr>
        <p:blipFill>
          <a:blip r:embed="rId7"/>
          <a:stretch>
            <a:fillRect/>
          </a:stretch>
        </p:blipFill>
        <p:spPr>
          <a:xfrm>
            <a:off x="3493008" y="3264408"/>
            <a:ext cx="365760" cy="365760"/>
          </a:xfrm>
          <a:prstGeom prst="rect">
            <a:avLst/>
          </a:prstGeom>
        </p:spPr>
      </p:pic>
      <p:sp>
        <p:nvSpPr>
          <p:cNvPr id="31" name="Text 24"/>
          <p:cNvSpPr/>
          <p:nvPr/>
        </p:nvSpPr>
        <p:spPr>
          <a:xfrm>
            <a:off x="3950208" y="3246120"/>
            <a:ext cx="1965960" cy="347472"/>
          </a:xfrm>
          <a:prstGeom prst="rect">
            <a:avLst/>
          </a:prstGeom>
          <a:noFill/>
          <a:ln/>
        </p:spPr>
        <p:txBody>
          <a:bodyPr wrap="square" rtlCol="0" anchor="ctr"/>
          <a:lstStyle/>
          <a:p>
            <a:pPr marL="0" indent="0">
              <a:buNone/>
            </a:pPr>
            <a:r>
              <a:rPr lang="en-US" sz="1200" b="1" dirty="0">
                <a:solidFill>
                  <a:srgbClr val="F3F4F6"/>
                </a:solidFill>
                <a:latin typeface="Arial Black" pitchFamily="34" charset="0"/>
                <a:ea typeface="Arial Black" pitchFamily="34" charset="-122"/>
                <a:cs typeface="Arial Black" pitchFamily="34" charset="-120"/>
              </a:rPr>
              <a:t>Launch Day Spotlight</a:t>
            </a:r>
            <a:endParaRPr lang="en-US" sz="1200" dirty="0"/>
          </a:p>
        </p:txBody>
      </p:sp>
      <p:sp>
        <p:nvSpPr>
          <p:cNvPr id="32" name="Text 25"/>
          <p:cNvSpPr/>
          <p:nvPr/>
        </p:nvSpPr>
        <p:spPr>
          <a:xfrm>
            <a:off x="3465576" y="3685032"/>
            <a:ext cx="2468880" cy="685800"/>
          </a:xfrm>
          <a:prstGeom prst="rect">
            <a:avLst/>
          </a:prstGeom>
          <a:noFill/>
          <a:ln/>
        </p:spPr>
        <p:txBody>
          <a:bodyPr wrap="square" rtlCol="0" anchor="ctr"/>
          <a:lstStyle/>
          <a:p>
            <a:pPr marL="0" indent="0">
              <a:lnSpc>
                <a:spcPct val="125000"/>
              </a:lnSpc>
              <a:buNone/>
            </a:pPr>
            <a:r>
              <a:rPr lang="en-US" sz="1050" dirty="0">
                <a:solidFill>
                  <a:srgbClr val="9CA3AF"/>
                </a:solidFill>
                <a:latin typeface="Arial" pitchFamily="34" charset="0"/>
                <a:ea typeface="Arial" pitchFamily="34" charset="-122"/>
                <a:cs typeface="Arial" pitchFamily="34" charset="-120"/>
              </a:rPr>
              <a:t>Featured in our launch campaign across Instagram, TikTok, LinkedIn and YouTube.</a:t>
            </a:r>
            <a:endParaRPr lang="en-US" sz="1050" dirty="0"/>
          </a:p>
        </p:txBody>
      </p:sp>
      <p:sp>
        <p:nvSpPr>
          <p:cNvPr id="33" name="Shape 26"/>
          <p:cNvSpPr/>
          <p:nvPr/>
        </p:nvSpPr>
        <p:spPr>
          <a:xfrm>
            <a:off x="6254496" y="3154680"/>
            <a:ext cx="2651760" cy="1298448"/>
          </a:xfrm>
          <a:prstGeom prst="rect">
            <a:avLst/>
          </a:prstGeom>
          <a:solidFill>
            <a:srgbClr val="1A2235"/>
          </a:solidFill>
          <a:ln w="12700">
            <a:solidFill>
              <a:srgbClr val="1F2A3A"/>
            </a:solidFill>
            <a:prstDash val="solid"/>
          </a:ln>
        </p:spPr>
      </p:sp>
      <p:sp>
        <p:nvSpPr>
          <p:cNvPr id="34" name="Shape 27"/>
          <p:cNvSpPr/>
          <p:nvPr/>
        </p:nvSpPr>
        <p:spPr>
          <a:xfrm>
            <a:off x="6254496" y="3154680"/>
            <a:ext cx="54864" cy="1298448"/>
          </a:xfrm>
          <a:prstGeom prst="rect">
            <a:avLst/>
          </a:prstGeom>
          <a:solidFill>
            <a:srgbClr val="F97316"/>
          </a:solidFill>
          <a:ln/>
        </p:spPr>
      </p:sp>
      <p:pic>
        <p:nvPicPr>
          <p:cNvPr id="35" name="Image 5" descr="preencoded.png"/>
          <p:cNvPicPr>
            <a:picLocks noChangeAspect="1"/>
          </p:cNvPicPr>
          <p:nvPr/>
        </p:nvPicPr>
        <p:blipFill>
          <a:blip r:embed="rId8"/>
          <a:stretch>
            <a:fillRect/>
          </a:stretch>
        </p:blipFill>
        <p:spPr>
          <a:xfrm>
            <a:off x="6391656" y="3264408"/>
            <a:ext cx="365760" cy="365760"/>
          </a:xfrm>
          <a:prstGeom prst="rect">
            <a:avLst/>
          </a:prstGeom>
        </p:spPr>
      </p:pic>
      <p:sp>
        <p:nvSpPr>
          <p:cNvPr id="36" name="Text 28"/>
          <p:cNvSpPr/>
          <p:nvPr/>
        </p:nvSpPr>
        <p:spPr>
          <a:xfrm>
            <a:off x="6848856" y="3246120"/>
            <a:ext cx="1965960" cy="347472"/>
          </a:xfrm>
          <a:prstGeom prst="rect">
            <a:avLst/>
          </a:prstGeom>
          <a:noFill/>
          <a:ln/>
        </p:spPr>
        <p:txBody>
          <a:bodyPr wrap="square" rtlCol="0" anchor="ctr"/>
          <a:lstStyle/>
          <a:p>
            <a:pPr marL="0" indent="0">
              <a:buNone/>
            </a:pPr>
            <a:r>
              <a:rPr lang="en-US" sz="1200" b="1" dirty="0">
                <a:solidFill>
                  <a:srgbClr val="F3F4F6"/>
                </a:solidFill>
                <a:latin typeface="Arial Black" pitchFamily="34" charset="0"/>
                <a:ea typeface="Arial Black" pitchFamily="34" charset="-122"/>
                <a:cs typeface="Arial Black" pitchFamily="34" charset="-120"/>
              </a:rPr>
              <a:t>Dedicated Support</a:t>
            </a:r>
            <a:endParaRPr lang="en-US" sz="1200" dirty="0"/>
          </a:p>
        </p:txBody>
      </p:sp>
      <p:sp>
        <p:nvSpPr>
          <p:cNvPr id="37" name="Text 29"/>
          <p:cNvSpPr/>
          <p:nvPr/>
        </p:nvSpPr>
        <p:spPr>
          <a:xfrm>
            <a:off x="6364224" y="3685032"/>
            <a:ext cx="2468880" cy="685800"/>
          </a:xfrm>
          <a:prstGeom prst="rect">
            <a:avLst/>
          </a:prstGeom>
          <a:noFill/>
          <a:ln/>
        </p:spPr>
        <p:txBody>
          <a:bodyPr wrap="square" rtlCol="0" anchor="ctr"/>
          <a:lstStyle/>
          <a:p>
            <a:pPr marL="0" indent="0">
              <a:lnSpc>
                <a:spcPct val="125000"/>
              </a:lnSpc>
              <a:buNone/>
            </a:pPr>
            <a:r>
              <a:rPr lang="en-US" sz="1050" dirty="0">
                <a:solidFill>
                  <a:srgbClr val="9CA3AF"/>
                </a:solidFill>
                <a:latin typeface="Arial" pitchFamily="34" charset="0"/>
                <a:ea typeface="Arial" pitchFamily="34" charset="-122"/>
                <a:cs typeface="Arial" pitchFamily="34" charset="-120"/>
              </a:rPr>
              <a:t>Direct line to the founder. Not a ticket system — real, personal support.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Shape 1"/>
          <p:cNvSpPr/>
          <p:nvPr/>
        </p:nvSpPr>
        <p:spPr>
          <a:xfrm>
            <a:off x="457200" y="347472"/>
            <a:ext cx="2011680" cy="256032"/>
          </a:xfrm>
          <a:prstGeom prst="rect">
            <a:avLst/>
          </a:prstGeom>
          <a:solidFill>
            <a:srgbClr val="F97316"/>
          </a:solidFill>
          <a:ln/>
        </p:spPr>
      </p:sp>
      <p:sp>
        <p:nvSpPr>
          <p:cNvPr id="4" name="Text 2"/>
          <p:cNvSpPr/>
          <p:nvPr/>
        </p:nvSpPr>
        <p:spPr>
          <a:xfrm>
            <a:off x="457200" y="347472"/>
            <a:ext cx="2011680" cy="256032"/>
          </a:xfrm>
          <a:prstGeom prst="rect">
            <a:avLst/>
          </a:prstGeom>
          <a:noFill/>
          <a:ln/>
        </p:spPr>
        <p:txBody>
          <a:bodyPr wrap="square" lIns="0" tIns="0" rIns="0" bIns="0" rtlCol="0" anchor="ctr"/>
          <a:lstStyle/>
          <a:p>
            <a:pPr marL="0" indent="0" algn="ctr">
              <a:buNone/>
            </a:pPr>
            <a:r>
              <a:rPr lang="en-US" sz="900" b="1" dirty="0">
                <a:solidFill>
                  <a:srgbClr val="FFFFFF"/>
                </a:solidFill>
              </a:rPr>
              <a:t>IDEAL COACHES</a:t>
            </a:r>
            <a:endParaRPr lang="en-US" sz="900" dirty="0"/>
          </a:p>
        </p:txBody>
      </p:sp>
      <p:sp>
        <p:nvSpPr>
          <p:cNvPr id="5" name="Text 3"/>
          <p:cNvSpPr/>
          <p:nvPr/>
        </p:nvSpPr>
        <p:spPr>
          <a:xfrm>
            <a:off x="457200" y="658368"/>
            <a:ext cx="8229600" cy="566928"/>
          </a:xfrm>
          <a:prstGeom prst="rect">
            <a:avLst/>
          </a:prstGeom>
          <a:noFill/>
          <a:ln/>
        </p:spPr>
        <p:txBody>
          <a:bodyPr wrap="square" rtlCol="0" anchor="ctr">
            <a:spAutoFit/>
          </a:bodyPr>
          <a:lstStyle/>
          <a:p>
            <a:pPr marL="0" indent="0">
              <a:buNone/>
            </a:pPr>
            <a:r>
              <a:rPr lang="en-US" sz="2800" b="1" dirty="0">
                <a:solidFill>
                  <a:srgbClr val="F3F4F6"/>
                </a:solidFill>
                <a:latin typeface="Arial Black" pitchFamily="34" charset="0"/>
                <a:ea typeface="Arial Black" pitchFamily="34" charset="-122"/>
                <a:cs typeface="Arial Black" pitchFamily="34" charset="-120"/>
              </a:rPr>
              <a:t>Is This You?</a:t>
            </a:r>
            <a:endParaRPr lang="en-US" sz="2800" dirty="0"/>
          </a:p>
        </p:txBody>
      </p:sp>
      <p:sp>
        <p:nvSpPr>
          <p:cNvPr id="6" name="Text 4"/>
          <p:cNvSpPr/>
          <p:nvPr/>
        </p:nvSpPr>
        <p:spPr>
          <a:xfrm>
            <a:off x="457200" y="1243584"/>
            <a:ext cx="8229600" cy="329184"/>
          </a:xfrm>
          <a:prstGeom prst="rect">
            <a:avLst/>
          </a:prstGeom>
          <a:noFill/>
          <a:ln/>
        </p:spPr>
        <p:txBody>
          <a:bodyPr wrap="square" rtlCol="0" anchor="ctr"/>
          <a:lstStyle/>
          <a:p>
            <a:pPr marL="0" indent="0">
              <a:buNone/>
            </a:pPr>
            <a:r>
              <a:rPr lang="en-US" sz="1300" dirty="0">
                <a:solidFill>
                  <a:srgbClr val="9CA3AF"/>
                </a:solidFill>
                <a:latin typeface="Arial" pitchFamily="34" charset="0"/>
                <a:ea typeface="Arial" pitchFamily="34" charset="-122"/>
                <a:cs typeface="Arial" pitchFamily="34" charset="-120"/>
              </a:rPr>
              <a:t>We're looking for coaches who are serious about building their online business.</a:t>
            </a:r>
            <a:endParaRPr lang="en-US" sz="13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7</a:t>
            </a:r>
            <a:endParaRPr lang="en-US" sz="900" dirty="0"/>
          </a:p>
        </p:txBody>
      </p:sp>
      <p:sp>
        <p:nvSpPr>
          <p:cNvPr id="8" name="Shape 6"/>
          <p:cNvSpPr/>
          <p:nvPr/>
        </p:nvSpPr>
        <p:spPr>
          <a:xfrm>
            <a:off x="457200" y="1691640"/>
            <a:ext cx="3931920" cy="3108960"/>
          </a:xfrm>
          <a:prstGeom prst="rect">
            <a:avLst/>
          </a:prstGeom>
          <a:solidFill>
            <a:srgbClr val="1A2235"/>
          </a:solidFill>
          <a:ln w="12700">
            <a:solidFill>
              <a:srgbClr val="1F2A3A"/>
            </a:solidFill>
            <a:prstDash val="solid"/>
          </a:ln>
        </p:spPr>
      </p:sp>
      <p:sp>
        <p:nvSpPr>
          <p:cNvPr id="9" name="Shape 7"/>
          <p:cNvSpPr/>
          <p:nvPr/>
        </p:nvSpPr>
        <p:spPr>
          <a:xfrm>
            <a:off x="457200" y="1691640"/>
            <a:ext cx="54864" cy="3108960"/>
          </a:xfrm>
          <a:prstGeom prst="rect">
            <a:avLst/>
          </a:prstGeom>
          <a:solidFill>
            <a:srgbClr val="22C55E"/>
          </a:solidFill>
          <a:ln/>
        </p:spPr>
      </p:sp>
      <p:sp>
        <p:nvSpPr>
          <p:cNvPr id="10" name="Text 8"/>
          <p:cNvSpPr/>
          <p:nvPr/>
        </p:nvSpPr>
        <p:spPr>
          <a:xfrm>
            <a:off x="594360" y="1783080"/>
            <a:ext cx="3657600" cy="411480"/>
          </a:xfrm>
          <a:prstGeom prst="rect">
            <a:avLst/>
          </a:prstGeom>
          <a:noFill/>
          <a:ln/>
        </p:spPr>
        <p:txBody>
          <a:bodyPr wrap="square" rtlCol="0" anchor="ctr"/>
          <a:lstStyle/>
          <a:p>
            <a:pPr marL="0" indent="0">
              <a:buNone/>
            </a:pPr>
            <a:r>
              <a:rPr lang="en-US" sz="1500" b="1" dirty="0">
                <a:solidFill>
                  <a:srgbClr val="22C55E"/>
                </a:solidFill>
                <a:latin typeface="Arial Black" pitchFamily="34" charset="0"/>
                <a:ea typeface="Arial Black" pitchFamily="34" charset="-122"/>
                <a:cs typeface="Arial Black" pitchFamily="34" charset="-120"/>
              </a:rPr>
              <a:t>✓  Perfect Fit</a:t>
            </a:r>
            <a:endParaRPr lang="en-US" sz="1500" dirty="0"/>
          </a:p>
        </p:txBody>
      </p:sp>
      <p:sp>
        <p:nvSpPr>
          <p:cNvPr id="11" name="Text 9"/>
          <p:cNvSpPr/>
          <p:nvPr/>
        </p:nvSpPr>
        <p:spPr>
          <a:xfrm>
            <a:off x="658368" y="2286000"/>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Certified personal trainer or fitness coach</a:t>
            </a:r>
            <a:endParaRPr lang="en-US" sz="1200" dirty="0"/>
          </a:p>
        </p:txBody>
      </p:sp>
      <p:sp>
        <p:nvSpPr>
          <p:cNvPr id="12" name="Text 10"/>
          <p:cNvSpPr/>
          <p:nvPr/>
        </p:nvSpPr>
        <p:spPr>
          <a:xfrm>
            <a:off x="658368" y="2688336"/>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Want to grow your online client base</a:t>
            </a:r>
            <a:endParaRPr lang="en-US" sz="1200" dirty="0"/>
          </a:p>
        </p:txBody>
      </p:sp>
      <p:sp>
        <p:nvSpPr>
          <p:cNvPr id="13" name="Text 11"/>
          <p:cNvSpPr/>
          <p:nvPr/>
        </p:nvSpPr>
        <p:spPr>
          <a:xfrm>
            <a:off x="658368" y="3090672"/>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Comfortable communicating digitally</a:t>
            </a:r>
            <a:endParaRPr lang="en-US" sz="1200" dirty="0"/>
          </a:p>
        </p:txBody>
      </p:sp>
      <p:sp>
        <p:nvSpPr>
          <p:cNvPr id="14" name="Text 12"/>
          <p:cNvSpPr/>
          <p:nvPr/>
        </p:nvSpPr>
        <p:spPr>
          <a:xfrm>
            <a:off x="658368" y="3493008"/>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Deliver measurable, trackable results</a:t>
            </a:r>
            <a:endParaRPr lang="en-US" sz="1200" dirty="0"/>
          </a:p>
        </p:txBody>
      </p:sp>
      <p:sp>
        <p:nvSpPr>
          <p:cNvPr id="15" name="Text 13"/>
          <p:cNvSpPr/>
          <p:nvPr/>
        </p:nvSpPr>
        <p:spPr>
          <a:xfrm>
            <a:off x="658368" y="3895344"/>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Committed to client progress &amp; accountability</a:t>
            </a:r>
            <a:endParaRPr lang="en-US" sz="1200" dirty="0"/>
          </a:p>
        </p:txBody>
      </p:sp>
      <p:sp>
        <p:nvSpPr>
          <p:cNvPr id="16" name="Text 14"/>
          <p:cNvSpPr/>
          <p:nvPr/>
        </p:nvSpPr>
        <p:spPr>
          <a:xfrm>
            <a:off x="658368" y="4297680"/>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Any specialty: strength, yoga, HIIT, nutrition…</a:t>
            </a:r>
            <a:endParaRPr lang="en-US" sz="1200" dirty="0"/>
          </a:p>
        </p:txBody>
      </p:sp>
      <p:sp>
        <p:nvSpPr>
          <p:cNvPr id="17" name="Shape 15"/>
          <p:cNvSpPr/>
          <p:nvPr/>
        </p:nvSpPr>
        <p:spPr>
          <a:xfrm>
            <a:off x="4754880" y="1691640"/>
            <a:ext cx="3931920" cy="3108960"/>
          </a:xfrm>
          <a:prstGeom prst="rect">
            <a:avLst/>
          </a:prstGeom>
          <a:solidFill>
            <a:srgbClr val="1A2235"/>
          </a:solidFill>
          <a:ln w="12700">
            <a:solidFill>
              <a:srgbClr val="1F2A3A"/>
            </a:solidFill>
            <a:prstDash val="solid"/>
          </a:ln>
        </p:spPr>
      </p:sp>
      <p:sp>
        <p:nvSpPr>
          <p:cNvPr id="18" name="Shape 16"/>
          <p:cNvSpPr/>
          <p:nvPr/>
        </p:nvSpPr>
        <p:spPr>
          <a:xfrm>
            <a:off x="4754880" y="1691640"/>
            <a:ext cx="54864" cy="3108960"/>
          </a:xfrm>
          <a:prstGeom prst="rect">
            <a:avLst/>
          </a:prstGeom>
          <a:solidFill>
            <a:srgbClr val="F97316"/>
          </a:solidFill>
          <a:ln/>
        </p:spPr>
      </p:sp>
      <p:sp>
        <p:nvSpPr>
          <p:cNvPr id="19" name="Text 17"/>
          <p:cNvSpPr/>
          <p:nvPr/>
        </p:nvSpPr>
        <p:spPr>
          <a:xfrm>
            <a:off x="4892040" y="1783080"/>
            <a:ext cx="3657600" cy="411480"/>
          </a:xfrm>
          <a:prstGeom prst="rect">
            <a:avLst/>
          </a:prstGeom>
          <a:noFill/>
          <a:ln/>
        </p:spPr>
        <p:txBody>
          <a:bodyPr wrap="square" rtlCol="0" anchor="ctr"/>
          <a:lstStyle/>
          <a:p>
            <a:pPr marL="0" indent="0">
              <a:buNone/>
            </a:pPr>
            <a:r>
              <a:rPr lang="en-US" sz="1500" b="1" dirty="0">
                <a:solidFill>
                  <a:srgbClr val="F97316"/>
                </a:solidFill>
                <a:latin typeface="Arial Black" pitchFamily="34" charset="0"/>
                <a:ea typeface="Arial Black" pitchFamily="34" charset="-122"/>
                <a:cs typeface="Arial Black" pitchFamily="34" charset="-120"/>
              </a:rPr>
              <a:t>✗  Not Required</a:t>
            </a:r>
            <a:endParaRPr lang="en-US" sz="1500" dirty="0"/>
          </a:p>
        </p:txBody>
      </p:sp>
      <p:sp>
        <p:nvSpPr>
          <p:cNvPr id="20" name="Text 18"/>
          <p:cNvSpPr/>
          <p:nvPr/>
        </p:nvSpPr>
        <p:spPr>
          <a:xfrm>
            <a:off x="4956048" y="2286000"/>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Large social media following</a:t>
            </a:r>
            <a:endParaRPr lang="en-US" sz="1200" dirty="0"/>
          </a:p>
        </p:txBody>
      </p:sp>
      <p:sp>
        <p:nvSpPr>
          <p:cNvPr id="21" name="Text 19"/>
          <p:cNvSpPr/>
          <p:nvPr/>
        </p:nvSpPr>
        <p:spPr>
          <a:xfrm>
            <a:off x="4956048" y="2688336"/>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Your own website or app</a:t>
            </a:r>
            <a:endParaRPr lang="en-US" sz="1200" dirty="0"/>
          </a:p>
        </p:txBody>
      </p:sp>
      <p:sp>
        <p:nvSpPr>
          <p:cNvPr id="22" name="Text 20"/>
          <p:cNvSpPr/>
          <p:nvPr/>
        </p:nvSpPr>
        <p:spPr>
          <a:xfrm>
            <a:off x="4956048" y="3090672"/>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Tech skills or coding knowledge</a:t>
            </a:r>
            <a:endParaRPr lang="en-US" sz="1200" dirty="0"/>
          </a:p>
        </p:txBody>
      </p:sp>
      <p:sp>
        <p:nvSpPr>
          <p:cNvPr id="23" name="Text 21"/>
          <p:cNvSpPr/>
          <p:nvPr/>
        </p:nvSpPr>
        <p:spPr>
          <a:xfrm>
            <a:off x="4956048" y="3493008"/>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Existing online payment setup</a:t>
            </a:r>
            <a:endParaRPr lang="en-US" sz="1200" dirty="0"/>
          </a:p>
        </p:txBody>
      </p:sp>
      <p:sp>
        <p:nvSpPr>
          <p:cNvPr id="24" name="Text 22"/>
          <p:cNvSpPr/>
          <p:nvPr/>
        </p:nvSpPr>
        <p:spPr>
          <a:xfrm>
            <a:off x="4956048" y="3895344"/>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Years of online coaching experience</a:t>
            </a:r>
            <a:endParaRPr lang="en-US" sz="1200" dirty="0"/>
          </a:p>
        </p:txBody>
      </p:sp>
      <p:sp>
        <p:nvSpPr>
          <p:cNvPr id="25" name="Text 23"/>
          <p:cNvSpPr/>
          <p:nvPr/>
        </p:nvSpPr>
        <p:spPr>
          <a:xfrm>
            <a:off x="4956048" y="4297680"/>
            <a:ext cx="3566160" cy="347472"/>
          </a:xfrm>
          <a:prstGeom prst="rect">
            <a:avLst/>
          </a:prstGeom>
          <a:noFill/>
          <a:ln/>
        </p:spPr>
        <p:txBody>
          <a:bodyPr wrap="square" rtlCol="0" anchor="ctr"/>
          <a:lstStyle/>
          <a:p>
            <a:r>
              <a:rPr lang="en-US" sz="1200" dirty="0">
                <a:solidFill>
                  <a:srgbClr val="F3F4F6"/>
                </a:solidFill>
                <a:latin typeface="Arial" pitchFamily="34" charset="0"/>
                <a:ea typeface="Arial" pitchFamily="34" charset="-122"/>
                <a:cs typeface="Arial" pitchFamily="34" charset="-120"/>
              </a:rPr>
              <a:t>A large upfront investment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p:spPr>
      </p:sp>
      <p:sp>
        <p:nvSpPr>
          <p:cNvPr id="3" name="Shape 1"/>
          <p:cNvSpPr/>
          <p:nvPr/>
        </p:nvSpPr>
        <p:spPr>
          <a:xfrm>
            <a:off x="914400" y="0"/>
            <a:ext cx="0" cy="5143500"/>
          </a:xfrm>
          <a:prstGeom prst="line">
            <a:avLst/>
          </a:prstGeom>
          <a:noFill/>
          <a:ln w="12700">
            <a:solidFill>
              <a:srgbClr val="161E2E"/>
            </a:solidFill>
            <a:prstDash val="solid"/>
          </a:ln>
        </p:spPr>
      </p:sp>
      <p:sp>
        <p:nvSpPr>
          <p:cNvPr id="4" name="Shape 2"/>
          <p:cNvSpPr/>
          <p:nvPr/>
        </p:nvSpPr>
        <p:spPr>
          <a:xfrm>
            <a:off x="1828800" y="0"/>
            <a:ext cx="0" cy="5143500"/>
          </a:xfrm>
          <a:prstGeom prst="line">
            <a:avLst/>
          </a:prstGeom>
          <a:noFill/>
          <a:ln w="12700">
            <a:solidFill>
              <a:srgbClr val="161E2E"/>
            </a:solidFill>
            <a:prstDash val="solid"/>
          </a:ln>
        </p:spPr>
      </p:sp>
      <p:sp>
        <p:nvSpPr>
          <p:cNvPr id="5" name="Shape 3"/>
          <p:cNvSpPr/>
          <p:nvPr/>
        </p:nvSpPr>
        <p:spPr>
          <a:xfrm>
            <a:off x="2743200" y="0"/>
            <a:ext cx="0" cy="5143500"/>
          </a:xfrm>
          <a:prstGeom prst="line">
            <a:avLst/>
          </a:prstGeom>
          <a:noFill/>
          <a:ln w="12700">
            <a:solidFill>
              <a:srgbClr val="161E2E"/>
            </a:solidFill>
            <a:prstDash val="solid"/>
          </a:ln>
        </p:spPr>
      </p:sp>
      <p:sp>
        <p:nvSpPr>
          <p:cNvPr id="6" name="Shape 4"/>
          <p:cNvSpPr/>
          <p:nvPr/>
        </p:nvSpPr>
        <p:spPr>
          <a:xfrm>
            <a:off x="3657600" y="0"/>
            <a:ext cx="0" cy="5143500"/>
          </a:xfrm>
          <a:prstGeom prst="line">
            <a:avLst/>
          </a:prstGeom>
          <a:noFill/>
          <a:ln w="12700">
            <a:solidFill>
              <a:srgbClr val="161E2E"/>
            </a:solidFill>
            <a:prstDash val="solid"/>
          </a:ln>
        </p:spPr>
      </p:sp>
      <p:sp>
        <p:nvSpPr>
          <p:cNvPr id="7" name="Shape 5"/>
          <p:cNvSpPr/>
          <p:nvPr/>
        </p:nvSpPr>
        <p:spPr>
          <a:xfrm>
            <a:off x="4572000" y="0"/>
            <a:ext cx="0" cy="5143500"/>
          </a:xfrm>
          <a:prstGeom prst="line">
            <a:avLst/>
          </a:prstGeom>
          <a:noFill/>
          <a:ln w="12700">
            <a:solidFill>
              <a:srgbClr val="161E2E"/>
            </a:solidFill>
            <a:prstDash val="solid"/>
          </a:ln>
        </p:spPr>
      </p:sp>
      <p:sp>
        <p:nvSpPr>
          <p:cNvPr id="8" name="Shape 6"/>
          <p:cNvSpPr/>
          <p:nvPr/>
        </p:nvSpPr>
        <p:spPr>
          <a:xfrm>
            <a:off x="5486400" y="0"/>
            <a:ext cx="0" cy="5143500"/>
          </a:xfrm>
          <a:prstGeom prst="line">
            <a:avLst/>
          </a:prstGeom>
          <a:noFill/>
          <a:ln w="12700">
            <a:solidFill>
              <a:srgbClr val="161E2E"/>
            </a:solidFill>
            <a:prstDash val="solid"/>
          </a:ln>
        </p:spPr>
      </p:sp>
      <p:sp>
        <p:nvSpPr>
          <p:cNvPr id="9" name="Shape 7"/>
          <p:cNvSpPr/>
          <p:nvPr/>
        </p:nvSpPr>
        <p:spPr>
          <a:xfrm>
            <a:off x="6400800" y="0"/>
            <a:ext cx="0" cy="5143500"/>
          </a:xfrm>
          <a:prstGeom prst="line">
            <a:avLst/>
          </a:prstGeom>
          <a:noFill/>
          <a:ln w="12700">
            <a:solidFill>
              <a:srgbClr val="161E2E"/>
            </a:solidFill>
            <a:prstDash val="solid"/>
          </a:ln>
        </p:spPr>
      </p:sp>
      <p:sp>
        <p:nvSpPr>
          <p:cNvPr id="10" name="Shape 8"/>
          <p:cNvSpPr/>
          <p:nvPr/>
        </p:nvSpPr>
        <p:spPr>
          <a:xfrm>
            <a:off x="7315200" y="0"/>
            <a:ext cx="0" cy="5143500"/>
          </a:xfrm>
          <a:prstGeom prst="line">
            <a:avLst/>
          </a:prstGeom>
          <a:noFill/>
          <a:ln w="12700">
            <a:solidFill>
              <a:srgbClr val="161E2E"/>
            </a:solidFill>
            <a:prstDash val="solid"/>
          </a:ln>
        </p:spPr>
      </p:sp>
      <p:sp>
        <p:nvSpPr>
          <p:cNvPr id="11" name="Shape 9"/>
          <p:cNvSpPr/>
          <p:nvPr/>
        </p:nvSpPr>
        <p:spPr>
          <a:xfrm>
            <a:off x="8229600" y="0"/>
            <a:ext cx="0" cy="5143500"/>
          </a:xfrm>
          <a:prstGeom prst="line">
            <a:avLst/>
          </a:prstGeom>
          <a:noFill/>
          <a:ln w="12700">
            <a:solidFill>
              <a:srgbClr val="161E2E"/>
            </a:solidFill>
            <a:prstDash val="solid"/>
          </a:ln>
        </p:spPr>
      </p:sp>
      <p:sp>
        <p:nvSpPr>
          <p:cNvPr id="12" name="Shape 10"/>
          <p:cNvSpPr/>
          <p:nvPr/>
        </p:nvSpPr>
        <p:spPr>
          <a:xfrm>
            <a:off x="0" y="914400"/>
            <a:ext cx="9144000" cy="0"/>
          </a:xfrm>
          <a:prstGeom prst="line">
            <a:avLst/>
          </a:prstGeom>
          <a:noFill/>
          <a:ln w="12700">
            <a:solidFill>
              <a:srgbClr val="161E2E"/>
            </a:solidFill>
            <a:prstDash val="solid"/>
          </a:ln>
        </p:spPr>
      </p:sp>
      <p:sp>
        <p:nvSpPr>
          <p:cNvPr id="13" name="Shape 11"/>
          <p:cNvSpPr/>
          <p:nvPr/>
        </p:nvSpPr>
        <p:spPr>
          <a:xfrm>
            <a:off x="0" y="1828800"/>
            <a:ext cx="9144000" cy="0"/>
          </a:xfrm>
          <a:prstGeom prst="line">
            <a:avLst/>
          </a:prstGeom>
          <a:noFill/>
          <a:ln w="12700">
            <a:solidFill>
              <a:srgbClr val="161E2E"/>
            </a:solidFill>
            <a:prstDash val="solid"/>
          </a:ln>
        </p:spPr>
      </p:sp>
      <p:sp>
        <p:nvSpPr>
          <p:cNvPr id="14" name="Shape 12"/>
          <p:cNvSpPr/>
          <p:nvPr/>
        </p:nvSpPr>
        <p:spPr>
          <a:xfrm>
            <a:off x="0" y="2743200"/>
            <a:ext cx="9144000" cy="0"/>
          </a:xfrm>
          <a:prstGeom prst="line">
            <a:avLst/>
          </a:prstGeom>
          <a:noFill/>
          <a:ln w="12700">
            <a:solidFill>
              <a:srgbClr val="161E2E"/>
            </a:solidFill>
            <a:prstDash val="solid"/>
          </a:ln>
        </p:spPr>
      </p:sp>
      <p:sp>
        <p:nvSpPr>
          <p:cNvPr id="15" name="Shape 13"/>
          <p:cNvSpPr/>
          <p:nvPr/>
        </p:nvSpPr>
        <p:spPr>
          <a:xfrm>
            <a:off x="0" y="3657600"/>
            <a:ext cx="9144000" cy="0"/>
          </a:xfrm>
          <a:prstGeom prst="line">
            <a:avLst/>
          </a:prstGeom>
          <a:noFill/>
          <a:ln w="12700">
            <a:solidFill>
              <a:srgbClr val="161E2E"/>
            </a:solidFill>
            <a:prstDash val="solid"/>
          </a:ln>
        </p:spPr>
      </p:sp>
      <p:sp>
        <p:nvSpPr>
          <p:cNvPr id="16" name="Shape 14"/>
          <p:cNvSpPr/>
          <p:nvPr/>
        </p:nvSpPr>
        <p:spPr>
          <a:xfrm>
            <a:off x="0" y="4572000"/>
            <a:ext cx="9144000" cy="0"/>
          </a:xfrm>
          <a:prstGeom prst="line">
            <a:avLst/>
          </a:prstGeom>
          <a:noFill/>
          <a:ln w="12700">
            <a:solidFill>
              <a:srgbClr val="161E2E"/>
            </a:solidFill>
            <a:prstDash val="solid"/>
          </a:ln>
        </p:spPr>
      </p:sp>
      <p:sp>
        <p:nvSpPr>
          <p:cNvPr id="17" name="Text 15"/>
          <p:cNvSpPr/>
          <p:nvPr/>
        </p:nvSpPr>
        <p:spPr>
          <a:xfrm>
            <a:off x="3200400" y="411480"/>
            <a:ext cx="2743200" cy="1005840"/>
          </a:xfrm>
          <a:prstGeom prst="rect">
            <a:avLst/>
          </a:prstGeom>
          <a:noFill/>
          <a:ln/>
        </p:spPr>
        <p:txBody>
          <a:bodyPr wrap="square" rtlCol="0" anchor="ctr"/>
          <a:lstStyle/>
          <a:p>
            <a:pPr marL="0" indent="0" algn="ctr">
              <a:buNone/>
            </a:pPr>
            <a:r>
              <a:rPr lang="en-US" sz="4800" b="1" dirty="0">
                <a:solidFill>
                  <a:srgbClr val="F97316"/>
                </a:solidFill>
                <a:latin typeface="Arial Black" pitchFamily="34" charset="0"/>
                <a:ea typeface="Arial Black" pitchFamily="34" charset="-122"/>
                <a:cs typeface="Arial Black" pitchFamily="34" charset="-120"/>
              </a:rPr>
              <a:t>C</a:t>
            </a:r>
            <a:r>
              <a:rPr lang="en-US" sz="4800" b="1" dirty="0">
                <a:solidFill>
                  <a:srgbClr val="F3F4F6"/>
                </a:solidFill>
                <a:latin typeface="Arial Black" pitchFamily="34" charset="0"/>
                <a:ea typeface="Arial Black" pitchFamily="34" charset="-122"/>
                <a:cs typeface="Arial Black" pitchFamily="34" charset="-120"/>
              </a:rPr>
              <a:t>T</a:t>
            </a:r>
            <a:endParaRPr lang="en-US" sz="4800" dirty="0"/>
          </a:p>
        </p:txBody>
      </p:sp>
      <p:sp>
        <p:nvSpPr>
          <p:cNvPr id="18" name="Text 16"/>
          <p:cNvSpPr/>
          <p:nvPr/>
        </p:nvSpPr>
        <p:spPr>
          <a:xfrm>
            <a:off x="914400" y="1828800"/>
            <a:ext cx="7315200" cy="1371600"/>
          </a:xfrm>
          <a:prstGeom prst="rect">
            <a:avLst/>
          </a:prstGeom>
          <a:noFill/>
          <a:ln/>
        </p:spPr>
        <p:txBody>
          <a:bodyPr wrap="square" rtlCol="0" anchor="ctr"/>
          <a:lstStyle/>
          <a:p>
            <a:pPr marL="0" indent="0" algn="ctr">
              <a:lnSpc>
                <a:spcPct val="110000"/>
              </a:lnSpc>
              <a:buNone/>
            </a:pPr>
            <a:r>
              <a:rPr lang="en-US" sz="3800" b="1" dirty="0">
                <a:solidFill>
                  <a:srgbClr val="F3F4F6"/>
                </a:solidFill>
                <a:latin typeface="Arial Black" pitchFamily="34" charset="0"/>
                <a:ea typeface="Arial Black" pitchFamily="34" charset="-122"/>
                <a:cs typeface="Arial Black" pitchFamily="34" charset="-120"/>
              </a:rPr>
              <a:t>Ready to Grow</a:t>
            </a:r>
            <a:endParaRPr lang="en-US" sz="3800" dirty="0"/>
          </a:p>
          <a:p>
            <a:pPr marL="0" indent="0" algn="ctr">
              <a:lnSpc>
                <a:spcPct val="110000"/>
              </a:lnSpc>
              <a:buNone/>
            </a:pPr>
            <a:r>
              <a:rPr lang="en-US" sz="3800" b="1" dirty="0">
                <a:solidFill>
                  <a:srgbClr val="F3F4F6"/>
                </a:solidFill>
                <a:latin typeface="Arial Black" pitchFamily="34" charset="0"/>
                <a:ea typeface="Arial Black" pitchFamily="34" charset="-122"/>
                <a:cs typeface="Arial Black" pitchFamily="34" charset="-120"/>
              </a:rPr>
              <a:t>Your Coaching Business?</a:t>
            </a:r>
            <a:endParaRPr lang="en-US" sz="3800" dirty="0"/>
          </a:p>
        </p:txBody>
      </p:sp>
      <p:sp>
        <p:nvSpPr>
          <p:cNvPr id="19" name="Text 17"/>
          <p:cNvSpPr/>
          <p:nvPr/>
        </p:nvSpPr>
        <p:spPr>
          <a:xfrm>
            <a:off x="1371600" y="3246120"/>
            <a:ext cx="6400800" cy="411480"/>
          </a:xfrm>
          <a:prstGeom prst="rect">
            <a:avLst/>
          </a:prstGeom>
          <a:noFill/>
          <a:ln/>
        </p:spPr>
        <p:txBody>
          <a:bodyPr wrap="square" rtlCol="0" anchor="ctr"/>
          <a:lstStyle/>
          <a:p>
            <a:pPr marL="0" indent="0" algn="ctr">
              <a:buNone/>
            </a:pPr>
            <a:r>
              <a:rPr lang="en-US" sz="1500" dirty="0">
                <a:solidFill>
                  <a:srgbClr val="9CA3AF"/>
                </a:solidFill>
                <a:latin typeface="Arial" pitchFamily="34" charset="0"/>
                <a:ea typeface="Arial" pitchFamily="34" charset="-122"/>
                <a:cs typeface="Arial" pitchFamily="34" charset="-120"/>
              </a:rPr>
              <a:t>Founding coach spots are limited. Apply today — it's free.</a:t>
            </a:r>
            <a:endParaRPr lang="en-US" sz="1500" dirty="0"/>
          </a:p>
        </p:txBody>
      </p:sp>
      <p:sp>
        <p:nvSpPr>
          <p:cNvPr id="20" name="Shape 18"/>
          <p:cNvSpPr/>
          <p:nvPr/>
        </p:nvSpPr>
        <p:spPr>
          <a:xfrm>
            <a:off x="2926080" y="3749040"/>
            <a:ext cx="3291840" cy="594360"/>
          </a:xfrm>
          <a:prstGeom prst="rect">
            <a:avLst/>
          </a:prstGeom>
          <a:solidFill>
            <a:srgbClr val="F97316"/>
          </a:solidFill>
          <a:ln w="12700">
            <a:solidFill>
              <a:srgbClr val="EA580C"/>
            </a:solidFill>
            <a:prstDash val="solid"/>
          </a:ln>
        </p:spPr>
      </p:sp>
      <p:sp>
        <p:nvSpPr>
          <p:cNvPr id="21" name="Text 19"/>
          <p:cNvSpPr/>
          <p:nvPr/>
        </p:nvSpPr>
        <p:spPr>
          <a:xfrm>
            <a:off x="2926080" y="3749040"/>
            <a:ext cx="32918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Apply at coachandtrack.com</a:t>
            </a:r>
            <a:endParaRPr lang="en-US" sz="1400" dirty="0"/>
          </a:p>
        </p:txBody>
      </p:sp>
      <p:sp>
        <p:nvSpPr>
          <p:cNvPr id="22" name="Text 20"/>
          <p:cNvSpPr/>
          <p:nvPr/>
        </p:nvSpPr>
        <p:spPr>
          <a:xfrm>
            <a:off x="1371600" y="4462272"/>
            <a:ext cx="6400800" cy="320040"/>
          </a:xfrm>
          <a:prstGeom prst="rect">
            <a:avLst/>
          </a:prstGeom>
          <a:noFill/>
          <a:ln/>
        </p:spPr>
        <p:txBody>
          <a:bodyPr wrap="square" rtlCol="0" anchor="ctr"/>
          <a:lstStyle/>
          <a:p>
            <a:pPr marL="0" indent="0" algn="ctr">
              <a:buNone/>
            </a:pPr>
            <a:r>
              <a:rPr lang="en-US" sz="1100" dirty="0">
                <a:solidFill>
                  <a:srgbClr val="6B7280"/>
                </a:solidFill>
                <a:latin typeface="Courier New" pitchFamily="34" charset="0"/>
                <a:ea typeface="Courier New" pitchFamily="34" charset="-122"/>
                <a:cs typeface="Courier New" pitchFamily="34" charset="-120"/>
              </a:rPr>
              <a:t>Questions? Email us at trainers@coachandtrack.com</a:t>
            </a:r>
            <a:endParaRPr lang="en-US" sz="1100" dirty="0"/>
          </a:p>
        </p:txBody>
      </p:sp>
      <p:sp>
        <p:nvSpPr>
          <p:cNvPr id="23" name="Shape 21"/>
          <p:cNvSpPr/>
          <p:nvPr/>
        </p:nvSpPr>
        <p:spPr>
          <a:xfrm>
            <a:off x="0" y="5079492"/>
            <a:ext cx="9144000" cy="64008"/>
          </a:xfrm>
          <a:prstGeom prst="rect">
            <a:avLst/>
          </a:prstGeom>
          <a:solidFill>
            <a:srgbClr val="F97316"/>
          </a:solidFill>
          <a:ln/>
        </p:spPr>
      </p:sp>
      <p:sp>
        <p:nvSpPr>
          <p:cNvPr id="24" name="Text 22"/>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6B7280"/>
                </a:solidFill>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1860</Words>
  <Application>Microsoft Office PowerPoint</Application>
  <PresentationFormat>On-screen Show (16:9)</PresentationFormat>
  <Paragraphs>151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Black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CoachAndTrack — Join as a Founding Coach</dc:title>
  <dc:subject>PptxGenJS Presentation</dc:subject>
  <dc:creator>PptxGenJS</dc:creator>
  <cp:lastModifiedBy>Carlos Blanco Zurita</cp:lastModifiedBy>
  <cp:revision>3</cp:revision>
  <dcterms:created xsi:type="dcterms:W3CDTF">2026-03-11T02:35:48Z</dcterms:created>
  <dcterms:modified xsi:type="dcterms:W3CDTF">2026-03-14T18:03:35Z</dcterms:modified>
</cp:coreProperties>
</file>